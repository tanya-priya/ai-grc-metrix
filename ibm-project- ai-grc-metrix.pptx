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3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60" r:id="rId12"/>
    <p:sldId id="2146847058" r:id="rId13"/>
    <p:sldId id="2146847057" r:id="rId14"/>
    <p:sldId id="2146847059" r:id="rId15"/>
    <p:sldId id="2146847062" r:id="rId16"/>
    <p:sldId id="2146847061" r:id="rId17"/>
    <p:sldId id="268" r:id="rId18"/>
    <p:sldId id="2146847055" r:id="rId19"/>
    <p:sldId id="269" r:id="rId20"/>
    <p:sldId id="2146847056" r:id="rId21"/>
    <p:sldId id="25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B47B24-5F60-B32A-02CA-944F6668F24E}" name="Tanya Priya" initials="TP" userId="31b99c6090936ed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5074F6-A5FE-40CD-AD21-51D5C2C72954}" v="452" dt="2026-09-05T13:41:54.0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5" Type="http://schemas.openxmlformats.org/officeDocument/2006/relationships/image" Target="../media/image4.sv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5" Type="http://schemas.openxmlformats.org/officeDocument/2006/relationships/image" Target="../media/image4.sv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E86D6E-0BB1-42C9-8A89-4B59D0E971F3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14590D-5DA0-4310-90D5-9EF37BC01E1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dirty="0">
              <a:latin typeface="Franklin Gothic Demi"/>
            </a:rPr>
            <a:t>Organizations handle large amounts of security, privacy, risk, and compliance information, making GRC audits difficult and time-consuming to manage manually.</a:t>
          </a:r>
          <a:endParaRPr lang="en-US" dirty="0">
            <a:latin typeface="Franklin Gothic Demi"/>
          </a:endParaRPr>
        </a:p>
      </dgm:t>
    </dgm:pt>
    <dgm:pt modelId="{8617B30E-CFC6-4F9C-8150-D5278B25C810}" type="parTrans" cxnId="{9411145D-B770-4F9C-8EE1-933A86E7F8D7}">
      <dgm:prSet/>
      <dgm:spPr/>
      <dgm:t>
        <a:bodyPr/>
        <a:lstStyle/>
        <a:p>
          <a:endParaRPr lang="en-US"/>
        </a:p>
      </dgm:t>
    </dgm:pt>
    <dgm:pt modelId="{EB36907A-AB8B-400E-B418-141610D76442}" type="sibTrans" cxnId="{9411145D-B770-4F9C-8EE1-933A86E7F8D7}">
      <dgm:prSet/>
      <dgm:spPr/>
      <dgm:t>
        <a:bodyPr/>
        <a:lstStyle/>
        <a:p>
          <a:endParaRPr lang="en-US"/>
        </a:p>
      </dgm:t>
    </dgm:pt>
    <dgm:pt modelId="{97BD5132-497F-40DD-A272-8F48EFCE5CB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dirty="0">
              <a:latin typeface="Franklin Gothic Demi"/>
            </a:rPr>
            <a:t>It can also be challenging to identify vulnerabilities and understand which regulatory requirements or security controls are affected.</a:t>
          </a:r>
          <a:endParaRPr lang="en-US" dirty="0">
            <a:latin typeface="Franklin Gothic Demi"/>
          </a:endParaRPr>
        </a:p>
      </dgm:t>
    </dgm:pt>
    <dgm:pt modelId="{4D215393-28B2-47E7-92B8-D7B309FAE598}" type="parTrans" cxnId="{A835E9A0-1967-48CE-804F-9990CC7DA0ED}">
      <dgm:prSet/>
      <dgm:spPr/>
      <dgm:t>
        <a:bodyPr/>
        <a:lstStyle/>
        <a:p>
          <a:endParaRPr lang="en-US"/>
        </a:p>
      </dgm:t>
    </dgm:pt>
    <dgm:pt modelId="{C30E50D0-C476-4147-9A8A-D03E6F1C78FA}" type="sibTrans" cxnId="{A835E9A0-1967-48CE-804F-9990CC7DA0ED}">
      <dgm:prSet/>
      <dgm:spPr/>
      <dgm:t>
        <a:bodyPr/>
        <a:lstStyle/>
        <a:p>
          <a:endParaRPr lang="en-US"/>
        </a:p>
      </dgm:t>
    </dgm:pt>
    <dgm:pt modelId="{510F6F4B-DAD9-41F3-8D59-493549008AA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dirty="0">
              <a:latin typeface="Franklin Gothic Demi"/>
            </a:rPr>
            <a:t>A simpler and more automated approach is needed to assess risks and present compliance issues clearly.</a:t>
          </a:r>
          <a:endParaRPr lang="en-US" dirty="0">
            <a:latin typeface="Franklin Gothic Demi"/>
          </a:endParaRPr>
        </a:p>
      </dgm:t>
    </dgm:pt>
    <dgm:pt modelId="{A8BD0A1B-6952-4967-AD57-6B4A371EE67A}" type="parTrans" cxnId="{F5157355-63F8-48AF-BEDC-466F7EBEBC75}">
      <dgm:prSet/>
      <dgm:spPr/>
      <dgm:t>
        <a:bodyPr/>
        <a:lstStyle/>
        <a:p>
          <a:endParaRPr lang="en-US"/>
        </a:p>
      </dgm:t>
    </dgm:pt>
    <dgm:pt modelId="{A510EE39-EAE4-4D75-9B7D-57B45D110F6E}" type="sibTrans" cxnId="{F5157355-63F8-48AF-BEDC-466F7EBEBC75}">
      <dgm:prSet/>
      <dgm:spPr/>
      <dgm:t>
        <a:bodyPr/>
        <a:lstStyle/>
        <a:p>
          <a:endParaRPr lang="en-US"/>
        </a:p>
      </dgm:t>
    </dgm:pt>
    <dgm:pt modelId="{F9ADF219-86D2-407F-AD3B-0D8C48E8426E}" type="pres">
      <dgm:prSet presAssocID="{1FE86D6E-0BB1-42C9-8A89-4B59D0E971F3}" presName="root" presStyleCnt="0">
        <dgm:presLayoutVars>
          <dgm:dir/>
          <dgm:resizeHandles val="exact"/>
        </dgm:presLayoutVars>
      </dgm:prSet>
      <dgm:spPr/>
    </dgm:pt>
    <dgm:pt modelId="{F4D1CC1E-EC4B-485B-9B56-05D61F01C685}" type="pres">
      <dgm:prSet presAssocID="{D414590D-5DA0-4310-90D5-9EF37BC01E1F}" presName="compNode" presStyleCnt="0"/>
      <dgm:spPr/>
    </dgm:pt>
    <dgm:pt modelId="{3BC6300D-B7E8-4150-BA09-E03D32B64815}" type="pres">
      <dgm:prSet presAssocID="{D414590D-5DA0-4310-90D5-9EF37BC01E1F}" presName="iconBgRect" presStyleLbl="bgShp" presStyleIdx="0" presStyleCnt="3"/>
      <dgm:spPr/>
    </dgm:pt>
    <dgm:pt modelId="{AB4AEE97-C446-4A1F-BCDA-F3245D32C3CB}" type="pres">
      <dgm:prSet presAssocID="{D414590D-5DA0-4310-90D5-9EF37BC01E1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395EFFC-4FCB-4D61-BA3F-8741D3B32126}" type="pres">
      <dgm:prSet presAssocID="{D414590D-5DA0-4310-90D5-9EF37BC01E1F}" presName="spaceRect" presStyleCnt="0"/>
      <dgm:spPr/>
    </dgm:pt>
    <dgm:pt modelId="{B7EAAD80-22C4-490B-9B72-1B9EFCD45FBD}" type="pres">
      <dgm:prSet presAssocID="{D414590D-5DA0-4310-90D5-9EF37BC01E1F}" presName="textRect" presStyleLbl="revTx" presStyleIdx="0" presStyleCnt="3">
        <dgm:presLayoutVars>
          <dgm:chMax val="1"/>
          <dgm:chPref val="1"/>
        </dgm:presLayoutVars>
      </dgm:prSet>
      <dgm:spPr/>
    </dgm:pt>
    <dgm:pt modelId="{6DA4E5F7-21C4-42B3-908F-B59243786EE6}" type="pres">
      <dgm:prSet presAssocID="{EB36907A-AB8B-400E-B418-141610D76442}" presName="sibTrans" presStyleCnt="0"/>
      <dgm:spPr/>
    </dgm:pt>
    <dgm:pt modelId="{53D94AED-4411-4F2D-A957-94B78D79C68C}" type="pres">
      <dgm:prSet presAssocID="{97BD5132-497F-40DD-A272-8F48EFCE5CBB}" presName="compNode" presStyleCnt="0"/>
      <dgm:spPr/>
    </dgm:pt>
    <dgm:pt modelId="{74CC2AAE-DA33-4A46-BAEA-BA3E1B49D173}" type="pres">
      <dgm:prSet presAssocID="{97BD5132-497F-40DD-A272-8F48EFCE5CBB}" presName="iconBgRect" presStyleLbl="bgShp" presStyleIdx="1" presStyleCnt="3"/>
      <dgm:spPr/>
    </dgm:pt>
    <dgm:pt modelId="{669C33A4-75C1-46B7-B939-DB5F6FFFDD18}" type="pres">
      <dgm:prSet presAssocID="{97BD5132-497F-40DD-A272-8F48EFCE5CB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3A2FB35-EECA-4C52-A29E-B7F256E04EAF}" type="pres">
      <dgm:prSet presAssocID="{97BD5132-497F-40DD-A272-8F48EFCE5CBB}" presName="spaceRect" presStyleCnt="0"/>
      <dgm:spPr/>
    </dgm:pt>
    <dgm:pt modelId="{9BE952B3-0390-4207-8A89-8B68CFC615E4}" type="pres">
      <dgm:prSet presAssocID="{97BD5132-497F-40DD-A272-8F48EFCE5CBB}" presName="textRect" presStyleLbl="revTx" presStyleIdx="1" presStyleCnt="3">
        <dgm:presLayoutVars>
          <dgm:chMax val="1"/>
          <dgm:chPref val="1"/>
        </dgm:presLayoutVars>
      </dgm:prSet>
      <dgm:spPr/>
    </dgm:pt>
    <dgm:pt modelId="{B5746E0F-AFB2-48B4-B79F-C7E60F817B6C}" type="pres">
      <dgm:prSet presAssocID="{C30E50D0-C476-4147-9A8A-D03E6F1C78FA}" presName="sibTrans" presStyleCnt="0"/>
      <dgm:spPr/>
    </dgm:pt>
    <dgm:pt modelId="{A7BCB5BD-5E45-4324-BDE1-2114C24D44FD}" type="pres">
      <dgm:prSet presAssocID="{510F6F4B-DAD9-41F3-8D59-493549008AA3}" presName="compNode" presStyleCnt="0"/>
      <dgm:spPr/>
    </dgm:pt>
    <dgm:pt modelId="{05B3982A-20DF-4D5D-921B-4D35F155A7D9}" type="pres">
      <dgm:prSet presAssocID="{510F6F4B-DAD9-41F3-8D59-493549008AA3}" presName="iconBgRect" presStyleLbl="bgShp" presStyleIdx="2" presStyleCnt="3"/>
      <dgm:spPr/>
    </dgm:pt>
    <dgm:pt modelId="{38F04B00-D6B1-459E-A041-2871F8829F53}" type="pres">
      <dgm:prSet presAssocID="{510F6F4B-DAD9-41F3-8D59-493549008AA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B359F4A-9909-4023-AC37-4D9E71814943}" type="pres">
      <dgm:prSet presAssocID="{510F6F4B-DAD9-41F3-8D59-493549008AA3}" presName="spaceRect" presStyleCnt="0"/>
      <dgm:spPr/>
    </dgm:pt>
    <dgm:pt modelId="{80C54C26-9072-4D6F-A7FD-2AFA0AD9BAA5}" type="pres">
      <dgm:prSet presAssocID="{510F6F4B-DAD9-41F3-8D59-493549008AA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60C650A-637F-4CAB-97F1-BB6143BD9801}" type="presOf" srcId="{97BD5132-497F-40DD-A272-8F48EFCE5CBB}" destId="{9BE952B3-0390-4207-8A89-8B68CFC615E4}" srcOrd="0" destOrd="0" presId="urn:microsoft.com/office/officeart/2018/5/layout/IconCircleLabelList"/>
    <dgm:cxn modelId="{E9397921-480B-4587-BE26-EFD865B39B74}" type="presOf" srcId="{1FE86D6E-0BB1-42C9-8A89-4B59D0E971F3}" destId="{F9ADF219-86D2-407F-AD3B-0D8C48E8426E}" srcOrd="0" destOrd="0" presId="urn:microsoft.com/office/officeart/2018/5/layout/IconCircleLabelList"/>
    <dgm:cxn modelId="{9411145D-B770-4F9C-8EE1-933A86E7F8D7}" srcId="{1FE86D6E-0BB1-42C9-8A89-4B59D0E971F3}" destId="{D414590D-5DA0-4310-90D5-9EF37BC01E1F}" srcOrd="0" destOrd="0" parTransId="{8617B30E-CFC6-4F9C-8150-D5278B25C810}" sibTransId="{EB36907A-AB8B-400E-B418-141610D76442}"/>
    <dgm:cxn modelId="{F5157355-63F8-48AF-BEDC-466F7EBEBC75}" srcId="{1FE86D6E-0BB1-42C9-8A89-4B59D0E971F3}" destId="{510F6F4B-DAD9-41F3-8D59-493549008AA3}" srcOrd="2" destOrd="0" parTransId="{A8BD0A1B-6952-4967-AD57-6B4A371EE67A}" sibTransId="{A510EE39-EAE4-4D75-9B7D-57B45D110F6E}"/>
    <dgm:cxn modelId="{CA72F17A-53BD-4F0E-A1DE-19A3A1AEC62F}" type="presOf" srcId="{510F6F4B-DAD9-41F3-8D59-493549008AA3}" destId="{80C54C26-9072-4D6F-A7FD-2AFA0AD9BAA5}" srcOrd="0" destOrd="0" presId="urn:microsoft.com/office/officeart/2018/5/layout/IconCircleLabelList"/>
    <dgm:cxn modelId="{EF786B86-E9BB-47F3-AEA5-A5D14EB79528}" type="presOf" srcId="{D414590D-5DA0-4310-90D5-9EF37BC01E1F}" destId="{B7EAAD80-22C4-490B-9B72-1B9EFCD45FBD}" srcOrd="0" destOrd="0" presId="urn:microsoft.com/office/officeart/2018/5/layout/IconCircleLabelList"/>
    <dgm:cxn modelId="{A835E9A0-1967-48CE-804F-9990CC7DA0ED}" srcId="{1FE86D6E-0BB1-42C9-8A89-4B59D0E971F3}" destId="{97BD5132-497F-40DD-A272-8F48EFCE5CBB}" srcOrd="1" destOrd="0" parTransId="{4D215393-28B2-47E7-92B8-D7B309FAE598}" sibTransId="{C30E50D0-C476-4147-9A8A-D03E6F1C78FA}"/>
    <dgm:cxn modelId="{73AC433D-264D-4DFE-82CB-451FA1D4834A}" type="presParOf" srcId="{F9ADF219-86D2-407F-AD3B-0D8C48E8426E}" destId="{F4D1CC1E-EC4B-485B-9B56-05D61F01C685}" srcOrd="0" destOrd="0" presId="urn:microsoft.com/office/officeart/2018/5/layout/IconCircleLabelList"/>
    <dgm:cxn modelId="{AEA8EF5F-1C97-4C12-B241-BC56DFCAA567}" type="presParOf" srcId="{F4D1CC1E-EC4B-485B-9B56-05D61F01C685}" destId="{3BC6300D-B7E8-4150-BA09-E03D32B64815}" srcOrd="0" destOrd="0" presId="urn:microsoft.com/office/officeart/2018/5/layout/IconCircleLabelList"/>
    <dgm:cxn modelId="{5769D1A7-3EE7-4095-A330-4098B2FB54FB}" type="presParOf" srcId="{F4D1CC1E-EC4B-485B-9B56-05D61F01C685}" destId="{AB4AEE97-C446-4A1F-BCDA-F3245D32C3CB}" srcOrd="1" destOrd="0" presId="urn:microsoft.com/office/officeart/2018/5/layout/IconCircleLabelList"/>
    <dgm:cxn modelId="{9BBA2508-C161-4F75-865C-17E4400E85E7}" type="presParOf" srcId="{F4D1CC1E-EC4B-485B-9B56-05D61F01C685}" destId="{2395EFFC-4FCB-4D61-BA3F-8741D3B32126}" srcOrd="2" destOrd="0" presId="urn:microsoft.com/office/officeart/2018/5/layout/IconCircleLabelList"/>
    <dgm:cxn modelId="{A865DE3D-2449-4C08-BBCE-1D631ABA584E}" type="presParOf" srcId="{F4D1CC1E-EC4B-485B-9B56-05D61F01C685}" destId="{B7EAAD80-22C4-490B-9B72-1B9EFCD45FBD}" srcOrd="3" destOrd="0" presId="urn:microsoft.com/office/officeart/2018/5/layout/IconCircleLabelList"/>
    <dgm:cxn modelId="{AF1673B3-7D68-4BDA-AEA7-543BEC9998FF}" type="presParOf" srcId="{F9ADF219-86D2-407F-AD3B-0D8C48E8426E}" destId="{6DA4E5F7-21C4-42B3-908F-B59243786EE6}" srcOrd="1" destOrd="0" presId="urn:microsoft.com/office/officeart/2018/5/layout/IconCircleLabelList"/>
    <dgm:cxn modelId="{47DC9B57-9C62-41F1-82DB-E79921C85F9B}" type="presParOf" srcId="{F9ADF219-86D2-407F-AD3B-0D8C48E8426E}" destId="{53D94AED-4411-4F2D-A957-94B78D79C68C}" srcOrd="2" destOrd="0" presId="urn:microsoft.com/office/officeart/2018/5/layout/IconCircleLabelList"/>
    <dgm:cxn modelId="{DA632441-49A4-4281-B7BA-37BC2567E646}" type="presParOf" srcId="{53D94AED-4411-4F2D-A957-94B78D79C68C}" destId="{74CC2AAE-DA33-4A46-BAEA-BA3E1B49D173}" srcOrd="0" destOrd="0" presId="urn:microsoft.com/office/officeart/2018/5/layout/IconCircleLabelList"/>
    <dgm:cxn modelId="{457F5AB7-E6F6-4BD6-AA22-F9A5CCA5DE8E}" type="presParOf" srcId="{53D94AED-4411-4F2D-A957-94B78D79C68C}" destId="{669C33A4-75C1-46B7-B939-DB5F6FFFDD18}" srcOrd="1" destOrd="0" presId="urn:microsoft.com/office/officeart/2018/5/layout/IconCircleLabelList"/>
    <dgm:cxn modelId="{A554CCC6-9223-4984-995E-2013128008E0}" type="presParOf" srcId="{53D94AED-4411-4F2D-A957-94B78D79C68C}" destId="{B3A2FB35-EECA-4C52-A29E-B7F256E04EAF}" srcOrd="2" destOrd="0" presId="urn:microsoft.com/office/officeart/2018/5/layout/IconCircleLabelList"/>
    <dgm:cxn modelId="{1697A8C5-A505-421B-9E76-EE70F6FBF4FF}" type="presParOf" srcId="{53D94AED-4411-4F2D-A957-94B78D79C68C}" destId="{9BE952B3-0390-4207-8A89-8B68CFC615E4}" srcOrd="3" destOrd="0" presId="urn:microsoft.com/office/officeart/2018/5/layout/IconCircleLabelList"/>
    <dgm:cxn modelId="{730375E7-F41A-4B2E-8B95-E84C3344BC27}" type="presParOf" srcId="{F9ADF219-86D2-407F-AD3B-0D8C48E8426E}" destId="{B5746E0F-AFB2-48B4-B79F-C7E60F817B6C}" srcOrd="3" destOrd="0" presId="urn:microsoft.com/office/officeart/2018/5/layout/IconCircleLabelList"/>
    <dgm:cxn modelId="{26296B49-4199-49DF-B679-BFC3E64643E6}" type="presParOf" srcId="{F9ADF219-86D2-407F-AD3B-0D8C48E8426E}" destId="{A7BCB5BD-5E45-4324-BDE1-2114C24D44FD}" srcOrd="4" destOrd="0" presId="urn:microsoft.com/office/officeart/2018/5/layout/IconCircleLabelList"/>
    <dgm:cxn modelId="{7282FCC9-5051-46CC-8EBF-A6C0972FAE3F}" type="presParOf" srcId="{A7BCB5BD-5E45-4324-BDE1-2114C24D44FD}" destId="{05B3982A-20DF-4D5D-921B-4D35F155A7D9}" srcOrd="0" destOrd="0" presId="urn:microsoft.com/office/officeart/2018/5/layout/IconCircleLabelList"/>
    <dgm:cxn modelId="{4C404082-D24A-4158-A0CE-9DA7030526AF}" type="presParOf" srcId="{A7BCB5BD-5E45-4324-BDE1-2114C24D44FD}" destId="{38F04B00-D6B1-459E-A041-2871F8829F53}" srcOrd="1" destOrd="0" presId="urn:microsoft.com/office/officeart/2018/5/layout/IconCircleLabelList"/>
    <dgm:cxn modelId="{3805A27B-8E49-481B-B2AC-B2EC698A0F6B}" type="presParOf" srcId="{A7BCB5BD-5E45-4324-BDE1-2114C24D44FD}" destId="{3B359F4A-9909-4023-AC37-4D9E71814943}" srcOrd="2" destOrd="0" presId="urn:microsoft.com/office/officeart/2018/5/layout/IconCircleLabelList"/>
    <dgm:cxn modelId="{0E688C27-E64E-4548-98BB-C3EAB45C5A7B}" type="presParOf" srcId="{A7BCB5BD-5E45-4324-BDE1-2114C24D44FD}" destId="{80C54C26-9072-4D6F-A7FD-2AFA0AD9BAA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5FAED2-C5A7-4CAF-8ECF-73748BC86A85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572983-B8BA-439D-8FD0-DCCD354C1336}">
      <dgm:prSet custT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sz="1800" b="0" dirty="0">
              <a:latin typeface="Franklin Gothic Demi"/>
            </a:rPr>
            <a:t>AI-GRC Metrix shows how Generative AI can simplify GRC auditing by analyzing company information and identifying security, privacy, and compliance risks.</a:t>
          </a:r>
          <a:endParaRPr lang="en-US" sz="1800" b="0" dirty="0">
            <a:latin typeface="Franklin Gothic Demi"/>
          </a:endParaRPr>
        </a:p>
      </dgm:t>
    </dgm:pt>
    <dgm:pt modelId="{F8AA9596-F1CA-4FF5-960B-FEC9260A591F}" type="parTrans" cxnId="{AA1C7B3C-F13A-42FA-9542-CB7A87EA065A}">
      <dgm:prSet/>
      <dgm:spPr/>
      <dgm:t>
        <a:bodyPr/>
        <a:lstStyle/>
        <a:p>
          <a:endParaRPr lang="en-US"/>
        </a:p>
      </dgm:t>
    </dgm:pt>
    <dgm:pt modelId="{2DBA675A-B828-4530-9C6D-555EBFAD35EB}" type="sibTrans" cxnId="{AA1C7B3C-F13A-42FA-9542-CB7A87EA065A}">
      <dgm:prSet/>
      <dgm:spPr/>
      <dgm:t>
        <a:bodyPr/>
        <a:lstStyle/>
        <a:p>
          <a:endParaRPr lang="en-US"/>
        </a:p>
      </dgm:t>
    </dgm:pt>
    <dgm:pt modelId="{AEDC82A3-29E9-49BB-B9A3-4BA218C0258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sz="1800" b="0" dirty="0">
              <a:latin typeface="Franklin Gothic Demi"/>
            </a:rPr>
            <a:t>The system brings risk assessment and regulatory mapping into one place and presents the findings in a simple, understandable format.</a:t>
          </a:r>
          <a:endParaRPr lang="en-US" sz="1800" b="0" dirty="0">
            <a:latin typeface="Franklin Gothic Demi"/>
          </a:endParaRPr>
        </a:p>
      </dgm:t>
    </dgm:pt>
    <dgm:pt modelId="{E9C66A7E-D746-4F43-9529-E5E557B465EE}" type="parTrans" cxnId="{AAFD00C1-7955-47DE-8878-2F61F96F15EC}">
      <dgm:prSet/>
      <dgm:spPr/>
      <dgm:t>
        <a:bodyPr/>
        <a:lstStyle/>
        <a:p>
          <a:endParaRPr lang="en-US"/>
        </a:p>
      </dgm:t>
    </dgm:pt>
    <dgm:pt modelId="{66527811-00C1-4100-8962-A661DF8F7904}" type="sibTrans" cxnId="{AAFD00C1-7955-47DE-8878-2F61F96F15EC}">
      <dgm:prSet/>
      <dgm:spPr/>
      <dgm:t>
        <a:bodyPr/>
        <a:lstStyle/>
        <a:p>
          <a:endParaRPr lang="en-US"/>
        </a:p>
      </dgm:t>
    </dgm:pt>
    <dgm:pt modelId="{7A78A88C-80B9-4472-8344-A80774E3674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sz="1800" b="0" dirty="0">
              <a:latin typeface="Franklin Gothic Demi"/>
            </a:rPr>
            <a:t>It can help organizations identify important compliance gaps faster and focus on the areas that need attention.</a:t>
          </a:r>
          <a:endParaRPr lang="en-US" sz="1800" b="0" dirty="0">
            <a:latin typeface="Franklin Gothic Demi"/>
          </a:endParaRPr>
        </a:p>
      </dgm:t>
    </dgm:pt>
    <dgm:pt modelId="{D0F15CAB-23F4-43A6-9EDC-9D72ED195D8F}" type="parTrans" cxnId="{C0E53B43-F790-42D5-BE18-6760AEB9ED20}">
      <dgm:prSet/>
      <dgm:spPr/>
      <dgm:t>
        <a:bodyPr/>
        <a:lstStyle/>
        <a:p>
          <a:endParaRPr lang="en-US"/>
        </a:p>
      </dgm:t>
    </dgm:pt>
    <dgm:pt modelId="{C8EB719B-624D-4EF9-95F9-E31865881704}" type="sibTrans" cxnId="{C0E53B43-F790-42D5-BE18-6760AEB9ED20}">
      <dgm:prSet/>
      <dgm:spPr/>
      <dgm:t>
        <a:bodyPr/>
        <a:lstStyle/>
        <a:p>
          <a:endParaRPr lang="en-US"/>
        </a:p>
      </dgm:t>
    </dgm:pt>
    <dgm:pt modelId="{63F8AC77-1ED6-4A59-B149-BF8F2113C583}" type="pres">
      <dgm:prSet presAssocID="{685FAED2-C5A7-4CAF-8ECF-73748BC86A85}" presName="root" presStyleCnt="0">
        <dgm:presLayoutVars>
          <dgm:dir/>
          <dgm:resizeHandles val="exact"/>
        </dgm:presLayoutVars>
      </dgm:prSet>
      <dgm:spPr/>
    </dgm:pt>
    <dgm:pt modelId="{249F8C2C-F6EE-45B2-A0F0-AAC826D63353}" type="pres">
      <dgm:prSet presAssocID="{0F572983-B8BA-439D-8FD0-DCCD354C1336}" presName="compNode" presStyleCnt="0"/>
      <dgm:spPr/>
    </dgm:pt>
    <dgm:pt modelId="{0028A52B-DBFD-4C7D-8DD7-8DEFB7651031}" type="pres">
      <dgm:prSet presAssocID="{0F572983-B8BA-439D-8FD0-DCCD354C1336}" presName="iconBgRect" presStyleLbl="bgShp" presStyleIdx="0" presStyleCnt="3"/>
      <dgm:spPr/>
    </dgm:pt>
    <dgm:pt modelId="{3F328DFC-B5FA-4A21-B2D2-C9A8621391ED}" type="pres">
      <dgm:prSet presAssocID="{0F572983-B8BA-439D-8FD0-DCCD354C133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25FEACC-5D14-4F4A-8AAB-EFB651EB9B7F}" type="pres">
      <dgm:prSet presAssocID="{0F572983-B8BA-439D-8FD0-DCCD354C1336}" presName="spaceRect" presStyleCnt="0"/>
      <dgm:spPr/>
    </dgm:pt>
    <dgm:pt modelId="{B35ECC59-65E1-462F-823E-3F7311920D1F}" type="pres">
      <dgm:prSet presAssocID="{0F572983-B8BA-439D-8FD0-DCCD354C1336}" presName="textRect" presStyleLbl="revTx" presStyleIdx="0" presStyleCnt="3">
        <dgm:presLayoutVars>
          <dgm:chMax val="1"/>
          <dgm:chPref val="1"/>
        </dgm:presLayoutVars>
      </dgm:prSet>
      <dgm:spPr/>
    </dgm:pt>
    <dgm:pt modelId="{2B63310B-A6E6-4591-96EA-A03DBAACEB4B}" type="pres">
      <dgm:prSet presAssocID="{2DBA675A-B828-4530-9C6D-555EBFAD35EB}" presName="sibTrans" presStyleCnt="0"/>
      <dgm:spPr/>
    </dgm:pt>
    <dgm:pt modelId="{BB31D571-8FF3-4BA6-9E23-1D4267595058}" type="pres">
      <dgm:prSet presAssocID="{AEDC82A3-29E9-49BB-B9A3-4BA218C02582}" presName="compNode" presStyleCnt="0"/>
      <dgm:spPr/>
    </dgm:pt>
    <dgm:pt modelId="{1421549F-A38F-4A67-883C-31178A32BA7D}" type="pres">
      <dgm:prSet presAssocID="{AEDC82A3-29E9-49BB-B9A3-4BA218C02582}" presName="iconBgRect" presStyleLbl="bgShp" presStyleIdx="1" presStyleCnt="3"/>
      <dgm:spPr/>
    </dgm:pt>
    <dgm:pt modelId="{C7850869-9600-4426-A19F-64393E330C4F}" type="pres">
      <dgm:prSet presAssocID="{AEDC82A3-29E9-49BB-B9A3-4BA218C0258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372103A7-30D3-4735-8AC5-5E7E26D8373B}" type="pres">
      <dgm:prSet presAssocID="{AEDC82A3-29E9-49BB-B9A3-4BA218C02582}" presName="spaceRect" presStyleCnt="0"/>
      <dgm:spPr/>
    </dgm:pt>
    <dgm:pt modelId="{1DA3E3EC-DC26-4DEB-BFC3-75D668E62022}" type="pres">
      <dgm:prSet presAssocID="{AEDC82A3-29E9-49BB-B9A3-4BA218C02582}" presName="textRect" presStyleLbl="revTx" presStyleIdx="1" presStyleCnt="3">
        <dgm:presLayoutVars>
          <dgm:chMax val="1"/>
          <dgm:chPref val="1"/>
        </dgm:presLayoutVars>
      </dgm:prSet>
      <dgm:spPr/>
    </dgm:pt>
    <dgm:pt modelId="{8162B2C9-C147-415B-B6BD-6ED944AE6753}" type="pres">
      <dgm:prSet presAssocID="{66527811-00C1-4100-8962-A661DF8F7904}" presName="sibTrans" presStyleCnt="0"/>
      <dgm:spPr/>
    </dgm:pt>
    <dgm:pt modelId="{095B304E-6B06-4223-B047-5FE8652F8ED5}" type="pres">
      <dgm:prSet presAssocID="{7A78A88C-80B9-4472-8344-A80774E36744}" presName="compNode" presStyleCnt="0"/>
      <dgm:spPr/>
    </dgm:pt>
    <dgm:pt modelId="{A8D1FB02-87D6-4E14-B6C6-09970A1FCD89}" type="pres">
      <dgm:prSet presAssocID="{7A78A88C-80B9-4472-8344-A80774E36744}" presName="iconBgRect" presStyleLbl="bgShp" presStyleIdx="2" presStyleCnt="3"/>
      <dgm:spPr/>
    </dgm:pt>
    <dgm:pt modelId="{A500C802-5440-473A-9780-F67F85A60234}" type="pres">
      <dgm:prSet presAssocID="{7A78A88C-80B9-4472-8344-A80774E3674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73D1C0E-908B-40AB-8325-99CFDD82D0AA}" type="pres">
      <dgm:prSet presAssocID="{7A78A88C-80B9-4472-8344-A80774E36744}" presName="spaceRect" presStyleCnt="0"/>
      <dgm:spPr/>
    </dgm:pt>
    <dgm:pt modelId="{D0EA8D7A-5CD2-45EC-85B0-31FAF4ECD892}" type="pres">
      <dgm:prSet presAssocID="{7A78A88C-80B9-4472-8344-A80774E3674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9BAF005-FDAB-487A-9921-A61D921632B6}" type="presOf" srcId="{0F572983-B8BA-439D-8FD0-DCCD354C1336}" destId="{B35ECC59-65E1-462F-823E-3F7311920D1F}" srcOrd="0" destOrd="0" presId="urn:microsoft.com/office/officeart/2018/5/layout/IconCircleLabelList"/>
    <dgm:cxn modelId="{AA1C7B3C-F13A-42FA-9542-CB7A87EA065A}" srcId="{685FAED2-C5A7-4CAF-8ECF-73748BC86A85}" destId="{0F572983-B8BA-439D-8FD0-DCCD354C1336}" srcOrd="0" destOrd="0" parTransId="{F8AA9596-F1CA-4FF5-960B-FEC9260A591F}" sibTransId="{2DBA675A-B828-4530-9C6D-555EBFAD35EB}"/>
    <dgm:cxn modelId="{C0E53B43-F790-42D5-BE18-6760AEB9ED20}" srcId="{685FAED2-C5A7-4CAF-8ECF-73748BC86A85}" destId="{7A78A88C-80B9-4472-8344-A80774E36744}" srcOrd="2" destOrd="0" parTransId="{D0F15CAB-23F4-43A6-9EDC-9D72ED195D8F}" sibTransId="{C8EB719B-624D-4EF9-95F9-E31865881704}"/>
    <dgm:cxn modelId="{6648E14D-AADF-45B2-B7F7-187A30C71D08}" type="presOf" srcId="{685FAED2-C5A7-4CAF-8ECF-73748BC86A85}" destId="{63F8AC77-1ED6-4A59-B149-BF8F2113C583}" srcOrd="0" destOrd="0" presId="urn:microsoft.com/office/officeart/2018/5/layout/IconCircleLabelList"/>
    <dgm:cxn modelId="{0B25F6B2-FD6A-4917-97A7-A1F6EB89584A}" type="presOf" srcId="{AEDC82A3-29E9-49BB-B9A3-4BA218C02582}" destId="{1DA3E3EC-DC26-4DEB-BFC3-75D668E62022}" srcOrd="0" destOrd="0" presId="urn:microsoft.com/office/officeart/2018/5/layout/IconCircleLabelList"/>
    <dgm:cxn modelId="{AAFD00C1-7955-47DE-8878-2F61F96F15EC}" srcId="{685FAED2-C5A7-4CAF-8ECF-73748BC86A85}" destId="{AEDC82A3-29E9-49BB-B9A3-4BA218C02582}" srcOrd="1" destOrd="0" parTransId="{E9C66A7E-D746-4F43-9529-E5E557B465EE}" sibTransId="{66527811-00C1-4100-8962-A661DF8F7904}"/>
    <dgm:cxn modelId="{C8B9DDE3-302C-4A53-B6B8-0C374D5C54DA}" type="presOf" srcId="{7A78A88C-80B9-4472-8344-A80774E36744}" destId="{D0EA8D7A-5CD2-45EC-85B0-31FAF4ECD892}" srcOrd="0" destOrd="0" presId="urn:microsoft.com/office/officeart/2018/5/layout/IconCircleLabelList"/>
    <dgm:cxn modelId="{4E753D8E-53ED-49C6-9C39-B2C74FADFAC0}" type="presParOf" srcId="{63F8AC77-1ED6-4A59-B149-BF8F2113C583}" destId="{249F8C2C-F6EE-45B2-A0F0-AAC826D63353}" srcOrd="0" destOrd="0" presId="urn:microsoft.com/office/officeart/2018/5/layout/IconCircleLabelList"/>
    <dgm:cxn modelId="{35AB7A35-A4F9-46FA-94DF-37E4D2E3C44A}" type="presParOf" srcId="{249F8C2C-F6EE-45B2-A0F0-AAC826D63353}" destId="{0028A52B-DBFD-4C7D-8DD7-8DEFB7651031}" srcOrd="0" destOrd="0" presId="urn:microsoft.com/office/officeart/2018/5/layout/IconCircleLabelList"/>
    <dgm:cxn modelId="{F0DFB5B2-D4BB-46D7-8BE0-9312543F449B}" type="presParOf" srcId="{249F8C2C-F6EE-45B2-A0F0-AAC826D63353}" destId="{3F328DFC-B5FA-4A21-B2D2-C9A8621391ED}" srcOrd="1" destOrd="0" presId="urn:microsoft.com/office/officeart/2018/5/layout/IconCircleLabelList"/>
    <dgm:cxn modelId="{FD90B44C-F902-4AE8-9567-B3F5803D8EDF}" type="presParOf" srcId="{249F8C2C-F6EE-45B2-A0F0-AAC826D63353}" destId="{D25FEACC-5D14-4F4A-8AAB-EFB651EB9B7F}" srcOrd="2" destOrd="0" presId="urn:microsoft.com/office/officeart/2018/5/layout/IconCircleLabelList"/>
    <dgm:cxn modelId="{7AA06BBB-C24B-436D-A12F-037E3147538B}" type="presParOf" srcId="{249F8C2C-F6EE-45B2-A0F0-AAC826D63353}" destId="{B35ECC59-65E1-462F-823E-3F7311920D1F}" srcOrd="3" destOrd="0" presId="urn:microsoft.com/office/officeart/2018/5/layout/IconCircleLabelList"/>
    <dgm:cxn modelId="{D9D1A42E-1ECC-4108-8A55-84553DF932B0}" type="presParOf" srcId="{63F8AC77-1ED6-4A59-B149-BF8F2113C583}" destId="{2B63310B-A6E6-4591-96EA-A03DBAACEB4B}" srcOrd="1" destOrd="0" presId="urn:microsoft.com/office/officeart/2018/5/layout/IconCircleLabelList"/>
    <dgm:cxn modelId="{404289EC-A069-4757-9B35-1EFD7A6D9051}" type="presParOf" srcId="{63F8AC77-1ED6-4A59-B149-BF8F2113C583}" destId="{BB31D571-8FF3-4BA6-9E23-1D4267595058}" srcOrd="2" destOrd="0" presId="urn:microsoft.com/office/officeart/2018/5/layout/IconCircleLabelList"/>
    <dgm:cxn modelId="{B8A6F992-D15B-4C28-A760-5DBF5AA0DFCA}" type="presParOf" srcId="{BB31D571-8FF3-4BA6-9E23-1D4267595058}" destId="{1421549F-A38F-4A67-883C-31178A32BA7D}" srcOrd="0" destOrd="0" presId="urn:microsoft.com/office/officeart/2018/5/layout/IconCircleLabelList"/>
    <dgm:cxn modelId="{EA04BE21-D819-4BDB-B977-5FD16AFF7480}" type="presParOf" srcId="{BB31D571-8FF3-4BA6-9E23-1D4267595058}" destId="{C7850869-9600-4426-A19F-64393E330C4F}" srcOrd="1" destOrd="0" presId="urn:microsoft.com/office/officeart/2018/5/layout/IconCircleLabelList"/>
    <dgm:cxn modelId="{1BE950CA-55E5-4E2D-AACD-71B990BC907D}" type="presParOf" srcId="{BB31D571-8FF3-4BA6-9E23-1D4267595058}" destId="{372103A7-30D3-4735-8AC5-5E7E26D8373B}" srcOrd="2" destOrd="0" presId="urn:microsoft.com/office/officeart/2018/5/layout/IconCircleLabelList"/>
    <dgm:cxn modelId="{F9E657CD-73C3-479A-83AB-D966857724FF}" type="presParOf" srcId="{BB31D571-8FF3-4BA6-9E23-1D4267595058}" destId="{1DA3E3EC-DC26-4DEB-BFC3-75D668E62022}" srcOrd="3" destOrd="0" presId="urn:microsoft.com/office/officeart/2018/5/layout/IconCircleLabelList"/>
    <dgm:cxn modelId="{2DF387B2-938D-44C3-A4F8-E4CD26D29127}" type="presParOf" srcId="{63F8AC77-1ED6-4A59-B149-BF8F2113C583}" destId="{8162B2C9-C147-415B-B6BD-6ED944AE6753}" srcOrd="3" destOrd="0" presId="urn:microsoft.com/office/officeart/2018/5/layout/IconCircleLabelList"/>
    <dgm:cxn modelId="{34991324-9ED6-48C4-9A1A-2F344603CA13}" type="presParOf" srcId="{63F8AC77-1ED6-4A59-B149-BF8F2113C583}" destId="{095B304E-6B06-4223-B047-5FE8652F8ED5}" srcOrd="4" destOrd="0" presId="urn:microsoft.com/office/officeart/2018/5/layout/IconCircleLabelList"/>
    <dgm:cxn modelId="{C87FEEF1-13B7-40C7-8B9C-FF7DCAE2F0C1}" type="presParOf" srcId="{095B304E-6B06-4223-B047-5FE8652F8ED5}" destId="{A8D1FB02-87D6-4E14-B6C6-09970A1FCD89}" srcOrd="0" destOrd="0" presId="urn:microsoft.com/office/officeart/2018/5/layout/IconCircleLabelList"/>
    <dgm:cxn modelId="{BE30742D-3CAA-42D2-A97E-CC880E3A1A19}" type="presParOf" srcId="{095B304E-6B06-4223-B047-5FE8652F8ED5}" destId="{A500C802-5440-473A-9780-F67F85A60234}" srcOrd="1" destOrd="0" presId="urn:microsoft.com/office/officeart/2018/5/layout/IconCircleLabelList"/>
    <dgm:cxn modelId="{C5A87927-C752-45AE-8DF4-E5A531BDD914}" type="presParOf" srcId="{095B304E-6B06-4223-B047-5FE8652F8ED5}" destId="{F73D1C0E-908B-40AB-8325-99CFDD82D0AA}" srcOrd="2" destOrd="0" presId="urn:microsoft.com/office/officeart/2018/5/layout/IconCircleLabelList"/>
    <dgm:cxn modelId="{6655200A-4EDA-4F59-8EE3-EE3BBBEB35BB}" type="presParOf" srcId="{095B304E-6B06-4223-B047-5FE8652F8ED5}" destId="{D0EA8D7A-5CD2-45EC-85B0-31FAF4ECD89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7AADCD-01AE-4828-86FA-DE13FE637670}" type="doc">
      <dgm:prSet loTypeId="urn:microsoft.com/office/officeart/2018/5/layout/IconLeaf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F1815D-FB66-4F71-BB94-7666120EF834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dirty="0"/>
            <a:t>Add support for more GRC frameworks and regulations.</a:t>
          </a:r>
        </a:p>
      </dgm:t>
    </dgm:pt>
    <dgm:pt modelId="{7506DBC3-5600-49DE-AC25-F5D0050DB4EC}" type="parTrans" cxnId="{3EFA4F30-7DE1-43E3-86F1-943360E95E5E}">
      <dgm:prSet/>
      <dgm:spPr/>
      <dgm:t>
        <a:bodyPr/>
        <a:lstStyle/>
        <a:p>
          <a:endParaRPr lang="en-US"/>
        </a:p>
      </dgm:t>
    </dgm:pt>
    <dgm:pt modelId="{B5E6F5A0-9E7A-4475-AF5D-E1CF3CD5DD43}" type="sibTrans" cxnId="{3EFA4F30-7DE1-43E3-86F1-943360E95E5E}">
      <dgm:prSet/>
      <dgm:spPr/>
      <dgm:t>
        <a:bodyPr/>
        <a:lstStyle/>
        <a:p>
          <a:endParaRPr lang="en-US"/>
        </a:p>
      </dgm:t>
    </dgm:pt>
    <dgm:pt modelId="{F93FF756-9A44-4156-A0D0-EEE484D7DC63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dirty="0"/>
            <a:t>Improve analysis of uploaded documents and policies.</a:t>
          </a:r>
        </a:p>
      </dgm:t>
    </dgm:pt>
    <dgm:pt modelId="{D54C903D-F43A-47D2-BF85-E08FDA426B6B}" type="parTrans" cxnId="{51FAB106-3964-4C3C-AE80-E94CC8C9D0EE}">
      <dgm:prSet/>
      <dgm:spPr/>
      <dgm:t>
        <a:bodyPr/>
        <a:lstStyle/>
        <a:p>
          <a:endParaRPr lang="en-US"/>
        </a:p>
      </dgm:t>
    </dgm:pt>
    <dgm:pt modelId="{026318B5-6834-4487-8CDA-8E1AF383F0A1}" type="sibTrans" cxnId="{51FAB106-3964-4C3C-AE80-E94CC8C9D0EE}">
      <dgm:prSet/>
      <dgm:spPr/>
      <dgm:t>
        <a:bodyPr/>
        <a:lstStyle/>
        <a:p>
          <a:endParaRPr lang="en-US"/>
        </a:p>
      </dgm:t>
    </dgm:pt>
    <dgm:pt modelId="{16C7732D-8EFB-4520-8EA6-F55A0B77F63D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dirty="0"/>
            <a:t>Add more detailed compliance and risk dashboards.</a:t>
          </a:r>
        </a:p>
      </dgm:t>
    </dgm:pt>
    <dgm:pt modelId="{E09736A7-E550-418F-8071-F52EDE245E4C}" type="parTrans" cxnId="{65E19258-AB47-4D47-9094-142565FBBD9B}">
      <dgm:prSet/>
      <dgm:spPr/>
      <dgm:t>
        <a:bodyPr/>
        <a:lstStyle/>
        <a:p>
          <a:endParaRPr lang="en-US"/>
        </a:p>
      </dgm:t>
    </dgm:pt>
    <dgm:pt modelId="{B60D7676-AC36-4D58-8A5E-F4115F862ABE}" type="sibTrans" cxnId="{65E19258-AB47-4D47-9094-142565FBBD9B}">
      <dgm:prSet/>
      <dgm:spPr/>
      <dgm:t>
        <a:bodyPr/>
        <a:lstStyle/>
        <a:p>
          <a:endParaRPr lang="en-US"/>
        </a:p>
      </dgm:t>
    </dgm:pt>
    <dgm:pt modelId="{DA7DCC89-A672-4DD6-BCE0-A78750910910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b="0" i="0" dirty="0">
              <a:latin typeface="Franklin Gothic Book"/>
            </a:rPr>
            <a:t>Improve risk</a:t>
          </a:r>
          <a:r>
            <a:rPr lang="en-US" sz="1800" b="0" i="0" dirty="0"/>
            <a:t> recommendations using additional organizational context.</a:t>
          </a:r>
        </a:p>
      </dgm:t>
    </dgm:pt>
    <dgm:pt modelId="{0118E004-C99F-4D34-8FE0-163F6F004B1D}" type="parTrans" cxnId="{5D2070FA-B56C-4C61-8EB1-E22065807731}">
      <dgm:prSet/>
      <dgm:spPr/>
      <dgm:t>
        <a:bodyPr/>
        <a:lstStyle/>
        <a:p>
          <a:endParaRPr lang="en-US"/>
        </a:p>
      </dgm:t>
    </dgm:pt>
    <dgm:pt modelId="{26EAAF43-2FAB-49FE-BF03-0F2B87DF55A1}" type="sibTrans" cxnId="{5D2070FA-B56C-4C61-8EB1-E22065807731}">
      <dgm:prSet/>
      <dgm:spPr/>
      <dgm:t>
        <a:bodyPr/>
        <a:lstStyle/>
        <a:p>
          <a:endParaRPr lang="en-US"/>
        </a:p>
      </dgm:t>
    </dgm:pt>
    <dgm:pt modelId="{45389F41-3F7D-44D7-89A0-F252B1B672CB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dirty="0"/>
            <a:t>Integrate with existing enterprise GRC and security tools.</a:t>
          </a:r>
          <a:endParaRPr lang="en-US" sz="1800" dirty="0">
            <a:latin typeface="Franklin Gothic Demi" panose="020B0502020104020203"/>
          </a:endParaRPr>
        </a:p>
      </dgm:t>
    </dgm:pt>
    <dgm:pt modelId="{F7C15CF5-410F-4141-A67A-4F29820A98B2}" type="parTrans" cxnId="{466E1F59-FBDE-4942-A61D-3F106FB3118A}">
      <dgm:prSet/>
      <dgm:spPr/>
      <dgm:t>
        <a:bodyPr/>
        <a:lstStyle/>
        <a:p>
          <a:endParaRPr lang="en-US"/>
        </a:p>
      </dgm:t>
    </dgm:pt>
    <dgm:pt modelId="{7763D31E-5D2C-4232-B6F0-92A7128B14DD}" type="sibTrans" cxnId="{466E1F59-FBDE-4942-A61D-3F106FB3118A}">
      <dgm:prSet/>
      <dgm:spPr/>
      <dgm:t>
        <a:bodyPr/>
        <a:lstStyle/>
        <a:p>
          <a:endParaRPr lang="en-US"/>
        </a:p>
      </dgm:t>
    </dgm:pt>
    <dgm:pt modelId="{0318A6C1-E8CD-4963-B866-26E313E5C9A7}" type="pres">
      <dgm:prSet presAssocID="{8C7AADCD-01AE-4828-86FA-DE13FE637670}" presName="root" presStyleCnt="0">
        <dgm:presLayoutVars>
          <dgm:dir/>
          <dgm:resizeHandles val="exact"/>
        </dgm:presLayoutVars>
      </dgm:prSet>
      <dgm:spPr/>
    </dgm:pt>
    <dgm:pt modelId="{98DA353E-61C7-46BF-93C7-8FFA7A9B8101}" type="pres">
      <dgm:prSet presAssocID="{D1F1815D-FB66-4F71-BB94-7666120EF834}" presName="compNode" presStyleCnt="0"/>
      <dgm:spPr/>
    </dgm:pt>
    <dgm:pt modelId="{EA434CB3-4305-48C6-BF9F-428BACF4AD54}" type="pres">
      <dgm:prSet presAssocID="{D1F1815D-FB66-4F71-BB94-7666120EF834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FB1549A-7C06-4DBC-BD94-F9138EF3DF71}" type="pres">
      <dgm:prSet presAssocID="{D1F1815D-FB66-4F71-BB94-7666120EF834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4DB678E-DD02-4231-8235-79368D9D65D0}" type="pres">
      <dgm:prSet presAssocID="{D1F1815D-FB66-4F71-BB94-7666120EF834}" presName="spaceRect" presStyleCnt="0"/>
      <dgm:spPr/>
    </dgm:pt>
    <dgm:pt modelId="{DB3BD6B5-4792-45BD-A2E1-A860A74FD039}" type="pres">
      <dgm:prSet presAssocID="{D1F1815D-FB66-4F71-BB94-7666120EF834}" presName="textRect" presStyleLbl="revTx" presStyleIdx="0" presStyleCnt="5">
        <dgm:presLayoutVars>
          <dgm:chMax val="1"/>
          <dgm:chPref val="1"/>
        </dgm:presLayoutVars>
      </dgm:prSet>
      <dgm:spPr/>
    </dgm:pt>
    <dgm:pt modelId="{617FC32E-0218-4D05-834A-761D377C9358}" type="pres">
      <dgm:prSet presAssocID="{B5E6F5A0-9E7A-4475-AF5D-E1CF3CD5DD43}" presName="sibTrans" presStyleCnt="0"/>
      <dgm:spPr/>
    </dgm:pt>
    <dgm:pt modelId="{2948AFD1-238B-493B-9E6A-1420F90A140E}" type="pres">
      <dgm:prSet presAssocID="{F93FF756-9A44-4156-A0D0-EEE484D7DC63}" presName="compNode" presStyleCnt="0"/>
      <dgm:spPr/>
    </dgm:pt>
    <dgm:pt modelId="{61F78436-49E5-4026-BA90-548C6873EC6A}" type="pres">
      <dgm:prSet presAssocID="{F93FF756-9A44-4156-A0D0-EEE484D7DC63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A3A57DA-05A6-4B7C-A1C0-78A2854B721D}" type="pres">
      <dgm:prSet presAssocID="{F93FF756-9A44-4156-A0D0-EEE484D7DC63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terfall scene"/>
        </a:ext>
      </dgm:extLst>
    </dgm:pt>
    <dgm:pt modelId="{47C96969-F1D8-4D4E-AC6A-570F484CE252}" type="pres">
      <dgm:prSet presAssocID="{F93FF756-9A44-4156-A0D0-EEE484D7DC63}" presName="spaceRect" presStyleCnt="0"/>
      <dgm:spPr/>
    </dgm:pt>
    <dgm:pt modelId="{E1339A42-581F-4935-B369-4FB0E415E218}" type="pres">
      <dgm:prSet presAssocID="{F93FF756-9A44-4156-A0D0-EEE484D7DC63}" presName="textRect" presStyleLbl="revTx" presStyleIdx="1" presStyleCnt="5">
        <dgm:presLayoutVars>
          <dgm:chMax val="1"/>
          <dgm:chPref val="1"/>
        </dgm:presLayoutVars>
      </dgm:prSet>
      <dgm:spPr/>
    </dgm:pt>
    <dgm:pt modelId="{B4273988-8E13-4DFD-A188-2E3A6B0EB2F1}" type="pres">
      <dgm:prSet presAssocID="{026318B5-6834-4487-8CDA-8E1AF383F0A1}" presName="sibTrans" presStyleCnt="0"/>
      <dgm:spPr/>
    </dgm:pt>
    <dgm:pt modelId="{1AC0FF1C-AB2D-4BA6-9154-8A75C1B9F167}" type="pres">
      <dgm:prSet presAssocID="{16C7732D-8EFB-4520-8EA6-F55A0B77F63D}" presName="compNode" presStyleCnt="0"/>
      <dgm:spPr/>
    </dgm:pt>
    <dgm:pt modelId="{78D7315F-14BB-4201-908F-4CBAC8788B0F}" type="pres">
      <dgm:prSet presAssocID="{16C7732D-8EFB-4520-8EA6-F55A0B77F63D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3DD6965-6DE9-4EAE-A8A4-AD824461C368}" type="pres">
      <dgm:prSet presAssocID="{16C7732D-8EFB-4520-8EA6-F55A0B77F63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4FFC9AB7-20C7-4F36-B0CB-3A04B5BCC7E8}" type="pres">
      <dgm:prSet presAssocID="{16C7732D-8EFB-4520-8EA6-F55A0B77F63D}" presName="spaceRect" presStyleCnt="0"/>
      <dgm:spPr/>
    </dgm:pt>
    <dgm:pt modelId="{DC6E00EB-838A-4EAB-94B8-FEB29B83F601}" type="pres">
      <dgm:prSet presAssocID="{16C7732D-8EFB-4520-8EA6-F55A0B77F63D}" presName="textRect" presStyleLbl="revTx" presStyleIdx="2" presStyleCnt="5">
        <dgm:presLayoutVars>
          <dgm:chMax val="1"/>
          <dgm:chPref val="1"/>
        </dgm:presLayoutVars>
      </dgm:prSet>
      <dgm:spPr/>
    </dgm:pt>
    <dgm:pt modelId="{B1EFEC3E-C1B9-456C-A96E-090E34F29D8F}" type="pres">
      <dgm:prSet presAssocID="{B60D7676-AC36-4D58-8A5E-F4115F862ABE}" presName="sibTrans" presStyleCnt="0"/>
      <dgm:spPr/>
    </dgm:pt>
    <dgm:pt modelId="{78B775EB-6CC9-4AF7-8F5C-642E69A41B00}" type="pres">
      <dgm:prSet presAssocID="{DA7DCC89-A672-4DD6-BCE0-A78750910910}" presName="compNode" presStyleCnt="0"/>
      <dgm:spPr/>
    </dgm:pt>
    <dgm:pt modelId="{4E2C04A7-10DC-4B82-B059-A16B8D64DE91}" type="pres">
      <dgm:prSet presAssocID="{DA7DCC89-A672-4DD6-BCE0-A78750910910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A1AFBA6-8C16-42BE-B669-32210FA2D8AE}" type="pres">
      <dgm:prSet presAssocID="{DA7DCC89-A672-4DD6-BCE0-A7875091091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AEAE7A20-4B87-445C-B2D5-74E7BA6A4679}" type="pres">
      <dgm:prSet presAssocID="{DA7DCC89-A672-4DD6-BCE0-A78750910910}" presName="spaceRect" presStyleCnt="0"/>
      <dgm:spPr/>
    </dgm:pt>
    <dgm:pt modelId="{C212252F-E156-4338-A791-E7324F09B318}" type="pres">
      <dgm:prSet presAssocID="{DA7DCC89-A672-4DD6-BCE0-A78750910910}" presName="textRect" presStyleLbl="revTx" presStyleIdx="3" presStyleCnt="5">
        <dgm:presLayoutVars>
          <dgm:chMax val="1"/>
          <dgm:chPref val="1"/>
        </dgm:presLayoutVars>
      </dgm:prSet>
      <dgm:spPr/>
    </dgm:pt>
    <dgm:pt modelId="{79651282-3E7D-492E-8556-C21F526B6A1A}" type="pres">
      <dgm:prSet presAssocID="{26EAAF43-2FAB-49FE-BF03-0F2B87DF55A1}" presName="sibTrans" presStyleCnt="0"/>
      <dgm:spPr/>
    </dgm:pt>
    <dgm:pt modelId="{CF0D9E0B-F126-4BC9-951F-30C6737A6B4F}" type="pres">
      <dgm:prSet presAssocID="{45389F41-3F7D-44D7-89A0-F252B1B672CB}" presName="compNode" presStyleCnt="0"/>
      <dgm:spPr/>
    </dgm:pt>
    <dgm:pt modelId="{EFCC8412-926A-44B6-9EA4-09AA557E4304}" type="pres">
      <dgm:prSet presAssocID="{45389F41-3F7D-44D7-89A0-F252B1B672CB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774EE07-15F6-4E57-AF2C-197E82D2D4CB}" type="pres">
      <dgm:prSet presAssocID="{45389F41-3F7D-44D7-89A0-F252B1B672CB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FCDE858-53ED-4DD8-B6E6-505C23EB23E9}" type="pres">
      <dgm:prSet presAssocID="{45389F41-3F7D-44D7-89A0-F252B1B672CB}" presName="spaceRect" presStyleCnt="0"/>
      <dgm:spPr/>
    </dgm:pt>
    <dgm:pt modelId="{0F1C7BC8-F13E-4D5C-BC3C-C0809940C917}" type="pres">
      <dgm:prSet presAssocID="{45389F41-3F7D-44D7-89A0-F252B1B672C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1FAB106-3964-4C3C-AE80-E94CC8C9D0EE}" srcId="{8C7AADCD-01AE-4828-86FA-DE13FE637670}" destId="{F93FF756-9A44-4156-A0D0-EEE484D7DC63}" srcOrd="1" destOrd="0" parTransId="{D54C903D-F43A-47D2-BF85-E08FDA426B6B}" sibTransId="{026318B5-6834-4487-8CDA-8E1AF383F0A1}"/>
    <dgm:cxn modelId="{E757B725-0C03-4374-B487-68D3BA32661E}" type="presOf" srcId="{45389F41-3F7D-44D7-89A0-F252B1B672CB}" destId="{0F1C7BC8-F13E-4D5C-BC3C-C0809940C917}" srcOrd="0" destOrd="0" presId="urn:microsoft.com/office/officeart/2018/5/layout/IconLeafLabelList"/>
    <dgm:cxn modelId="{5EA6ED2E-286A-473F-ADD9-5E900282AD4E}" type="presOf" srcId="{8C7AADCD-01AE-4828-86FA-DE13FE637670}" destId="{0318A6C1-E8CD-4963-B866-26E313E5C9A7}" srcOrd="0" destOrd="0" presId="urn:microsoft.com/office/officeart/2018/5/layout/IconLeafLabelList"/>
    <dgm:cxn modelId="{3EFA4F30-7DE1-43E3-86F1-943360E95E5E}" srcId="{8C7AADCD-01AE-4828-86FA-DE13FE637670}" destId="{D1F1815D-FB66-4F71-BB94-7666120EF834}" srcOrd="0" destOrd="0" parTransId="{7506DBC3-5600-49DE-AC25-F5D0050DB4EC}" sibTransId="{B5E6F5A0-9E7A-4475-AF5D-E1CF3CD5DD43}"/>
    <dgm:cxn modelId="{BE333944-0481-4542-BD95-ACA75BC024F4}" type="presOf" srcId="{F93FF756-9A44-4156-A0D0-EEE484D7DC63}" destId="{E1339A42-581F-4935-B369-4FB0E415E218}" srcOrd="0" destOrd="0" presId="urn:microsoft.com/office/officeart/2018/5/layout/IconLeafLabelList"/>
    <dgm:cxn modelId="{65E19258-AB47-4D47-9094-142565FBBD9B}" srcId="{8C7AADCD-01AE-4828-86FA-DE13FE637670}" destId="{16C7732D-8EFB-4520-8EA6-F55A0B77F63D}" srcOrd="2" destOrd="0" parTransId="{E09736A7-E550-418F-8071-F52EDE245E4C}" sibTransId="{B60D7676-AC36-4D58-8A5E-F4115F862ABE}"/>
    <dgm:cxn modelId="{466E1F59-FBDE-4942-A61D-3F106FB3118A}" srcId="{8C7AADCD-01AE-4828-86FA-DE13FE637670}" destId="{45389F41-3F7D-44D7-89A0-F252B1B672CB}" srcOrd="4" destOrd="0" parTransId="{F7C15CF5-410F-4141-A67A-4F29820A98B2}" sibTransId="{7763D31E-5D2C-4232-B6F0-92A7128B14DD}"/>
    <dgm:cxn modelId="{030D05C9-839B-45EF-94B0-043656978628}" type="presOf" srcId="{DA7DCC89-A672-4DD6-BCE0-A78750910910}" destId="{C212252F-E156-4338-A791-E7324F09B318}" srcOrd="0" destOrd="0" presId="urn:microsoft.com/office/officeart/2018/5/layout/IconLeafLabelList"/>
    <dgm:cxn modelId="{B2A3A5E9-33AC-44AB-9F3B-E1BE5FD50F2A}" type="presOf" srcId="{16C7732D-8EFB-4520-8EA6-F55A0B77F63D}" destId="{DC6E00EB-838A-4EAB-94B8-FEB29B83F601}" srcOrd="0" destOrd="0" presId="urn:microsoft.com/office/officeart/2018/5/layout/IconLeafLabelList"/>
    <dgm:cxn modelId="{928D92F9-28F6-4488-9686-8B6D3521CB72}" type="presOf" srcId="{D1F1815D-FB66-4F71-BB94-7666120EF834}" destId="{DB3BD6B5-4792-45BD-A2E1-A860A74FD039}" srcOrd="0" destOrd="0" presId="urn:microsoft.com/office/officeart/2018/5/layout/IconLeafLabelList"/>
    <dgm:cxn modelId="{5D2070FA-B56C-4C61-8EB1-E22065807731}" srcId="{8C7AADCD-01AE-4828-86FA-DE13FE637670}" destId="{DA7DCC89-A672-4DD6-BCE0-A78750910910}" srcOrd="3" destOrd="0" parTransId="{0118E004-C99F-4D34-8FE0-163F6F004B1D}" sibTransId="{26EAAF43-2FAB-49FE-BF03-0F2B87DF55A1}"/>
    <dgm:cxn modelId="{18364067-E7F4-49D1-8F58-64C20AEE56CE}" type="presParOf" srcId="{0318A6C1-E8CD-4963-B866-26E313E5C9A7}" destId="{98DA353E-61C7-46BF-93C7-8FFA7A9B8101}" srcOrd="0" destOrd="0" presId="urn:microsoft.com/office/officeart/2018/5/layout/IconLeafLabelList"/>
    <dgm:cxn modelId="{61673C17-F869-43F2-9A99-96054A1690D8}" type="presParOf" srcId="{98DA353E-61C7-46BF-93C7-8FFA7A9B8101}" destId="{EA434CB3-4305-48C6-BF9F-428BACF4AD54}" srcOrd="0" destOrd="0" presId="urn:microsoft.com/office/officeart/2018/5/layout/IconLeafLabelList"/>
    <dgm:cxn modelId="{10ED5640-C608-4764-9F89-3A414DD36C5E}" type="presParOf" srcId="{98DA353E-61C7-46BF-93C7-8FFA7A9B8101}" destId="{4FB1549A-7C06-4DBC-BD94-F9138EF3DF71}" srcOrd="1" destOrd="0" presId="urn:microsoft.com/office/officeart/2018/5/layout/IconLeafLabelList"/>
    <dgm:cxn modelId="{4EF0A97F-FDE9-4D0F-BE88-18D0D835B323}" type="presParOf" srcId="{98DA353E-61C7-46BF-93C7-8FFA7A9B8101}" destId="{74DB678E-DD02-4231-8235-79368D9D65D0}" srcOrd="2" destOrd="0" presId="urn:microsoft.com/office/officeart/2018/5/layout/IconLeafLabelList"/>
    <dgm:cxn modelId="{2CF05965-70E2-4722-8426-1FF843BF20D1}" type="presParOf" srcId="{98DA353E-61C7-46BF-93C7-8FFA7A9B8101}" destId="{DB3BD6B5-4792-45BD-A2E1-A860A74FD039}" srcOrd="3" destOrd="0" presId="urn:microsoft.com/office/officeart/2018/5/layout/IconLeafLabelList"/>
    <dgm:cxn modelId="{D71CCB09-912E-416C-96E8-2651B4C9B09A}" type="presParOf" srcId="{0318A6C1-E8CD-4963-B866-26E313E5C9A7}" destId="{617FC32E-0218-4D05-834A-761D377C9358}" srcOrd="1" destOrd="0" presId="urn:microsoft.com/office/officeart/2018/5/layout/IconLeafLabelList"/>
    <dgm:cxn modelId="{6D65063D-AC43-4852-A8B0-5D69A0F11FFD}" type="presParOf" srcId="{0318A6C1-E8CD-4963-B866-26E313E5C9A7}" destId="{2948AFD1-238B-493B-9E6A-1420F90A140E}" srcOrd="2" destOrd="0" presId="urn:microsoft.com/office/officeart/2018/5/layout/IconLeafLabelList"/>
    <dgm:cxn modelId="{09DD6ACD-2AC5-4230-B853-92385C50AE8F}" type="presParOf" srcId="{2948AFD1-238B-493B-9E6A-1420F90A140E}" destId="{61F78436-49E5-4026-BA90-548C6873EC6A}" srcOrd="0" destOrd="0" presId="urn:microsoft.com/office/officeart/2018/5/layout/IconLeafLabelList"/>
    <dgm:cxn modelId="{503998F2-E663-406D-A77C-C0D15055D996}" type="presParOf" srcId="{2948AFD1-238B-493B-9E6A-1420F90A140E}" destId="{7A3A57DA-05A6-4B7C-A1C0-78A2854B721D}" srcOrd="1" destOrd="0" presId="urn:microsoft.com/office/officeart/2018/5/layout/IconLeafLabelList"/>
    <dgm:cxn modelId="{16873B4F-AFFD-4BC2-A4D8-F27179A22D52}" type="presParOf" srcId="{2948AFD1-238B-493B-9E6A-1420F90A140E}" destId="{47C96969-F1D8-4D4E-AC6A-570F484CE252}" srcOrd="2" destOrd="0" presId="urn:microsoft.com/office/officeart/2018/5/layout/IconLeafLabelList"/>
    <dgm:cxn modelId="{E5148159-8711-40F1-BAD2-AF08A92FEFD3}" type="presParOf" srcId="{2948AFD1-238B-493B-9E6A-1420F90A140E}" destId="{E1339A42-581F-4935-B369-4FB0E415E218}" srcOrd="3" destOrd="0" presId="urn:microsoft.com/office/officeart/2018/5/layout/IconLeafLabelList"/>
    <dgm:cxn modelId="{510ED25C-E8BA-4A41-84E8-4E7C905697D0}" type="presParOf" srcId="{0318A6C1-E8CD-4963-B866-26E313E5C9A7}" destId="{B4273988-8E13-4DFD-A188-2E3A6B0EB2F1}" srcOrd="3" destOrd="0" presId="urn:microsoft.com/office/officeart/2018/5/layout/IconLeafLabelList"/>
    <dgm:cxn modelId="{C1CE617D-EC5F-4998-B0F5-B3148E68E17D}" type="presParOf" srcId="{0318A6C1-E8CD-4963-B866-26E313E5C9A7}" destId="{1AC0FF1C-AB2D-4BA6-9154-8A75C1B9F167}" srcOrd="4" destOrd="0" presId="urn:microsoft.com/office/officeart/2018/5/layout/IconLeafLabelList"/>
    <dgm:cxn modelId="{4A55A169-39BF-4E37-A551-F73530D46C51}" type="presParOf" srcId="{1AC0FF1C-AB2D-4BA6-9154-8A75C1B9F167}" destId="{78D7315F-14BB-4201-908F-4CBAC8788B0F}" srcOrd="0" destOrd="0" presId="urn:microsoft.com/office/officeart/2018/5/layout/IconLeafLabelList"/>
    <dgm:cxn modelId="{F6CF4E29-C2A2-4564-BE60-2FBEED877726}" type="presParOf" srcId="{1AC0FF1C-AB2D-4BA6-9154-8A75C1B9F167}" destId="{C3DD6965-6DE9-4EAE-A8A4-AD824461C368}" srcOrd="1" destOrd="0" presId="urn:microsoft.com/office/officeart/2018/5/layout/IconLeafLabelList"/>
    <dgm:cxn modelId="{1CB564A2-77E5-419E-B1E8-0A1BEC4DFA64}" type="presParOf" srcId="{1AC0FF1C-AB2D-4BA6-9154-8A75C1B9F167}" destId="{4FFC9AB7-20C7-4F36-B0CB-3A04B5BCC7E8}" srcOrd="2" destOrd="0" presId="urn:microsoft.com/office/officeart/2018/5/layout/IconLeafLabelList"/>
    <dgm:cxn modelId="{B972D0BD-58F7-4CDD-9EA3-F8127180F2A9}" type="presParOf" srcId="{1AC0FF1C-AB2D-4BA6-9154-8A75C1B9F167}" destId="{DC6E00EB-838A-4EAB-94B8-FEB29B83F601}" srcOrd="3" destOrd="0" presId="urn:microsoft.com/office/officeart/2018/5/layout/IconLeafLabelList"/>
    <dgm:cxn modelId="{1280CBC6-07A8-42CC-8E9A-FD402E5FF545}" type="presParOf" srcId="{0318A6C1-E8CD-4963-B866-26E313E5C9A7}" destId="{B1EFEC3E-C1B9-456C-A96E-090E34F29D8F}" srcOrd="5" destOrd="0" presId="urn:microsoft.com/office/officeart/2018/5/layout/IconLeafLabelList"/>
    <dgm:cxn modelId="{BBB0EFD9-7175-47E9-AEE6-469348818BB2}" type="presParOf" srcId="{0318A6C1-E8CD-4963-B866-26E313E5C9A7}" destId="{78B775EB-6CC9-4AF7-8F5C-642E69A41B00}" srcOrd="6" destOrd="0" presId="urn:microsoft.com/office/officeart/2018/5/layout/IconLeafLabelList"/>
    <dgm:cxn modelId="{6828CCBE-B9A3-4940-AF41-B16704FBA1E7}" type="presParOf" srcId="{78B775EB-6CC9-4AF7-8F5C-642E69A41B00}" destId="{4E2C04A7-10DC-4B82-B059-A16B8D64DE91}" srcOrd="0" destOrd="0" presId="urn:microsoft.com/office/officeart/2018/5/layout/IconLeafLabelList"/>
    <dgm:cxn modelId="{F5103904-C853-44A4-AD10-5C0D27FD1276}" type="presParOf" srcId="{78B775EB-6CC9-4AF7-8F5C-642E69A41B00}" destId="{4A1AFBA6-8C16-42BE-B669-32210FA2D8AE}" srcOrd="1" destOrd="0" presId="urn:microsoft.com/office/officeart/2018/5/layout/IconLeafLabelList"/>
    <dgm:cxn modelId="{5DB0E540-B85A-42D4-90D1-BB4862E194ED}" type="presParOf" srcId="{78B775EB-6CC9-4AF7-8F5C-642E69A41B00}" destId="{AEAE7A20-4B87-445C-B2D5-74E7BA6A4679}" srcOrd="2" destOrd="0" presId="urn:microsoft.com/office/officeart/2018/5/layout/IconLeafLabelList"/>
    <dgm:cxn modelId="{138502AE-35B6-407C-9C5F-C47FAB29BF90}" type="presParOf" srcId="{78B775EB-6CC9-4AF7-8F5C-642E69A41B00}" destId="{C212252F-E156-4338-A791-E7324F09B318}" srcOrd="3" destOrd="0" presId="urn:microsoft.com/office/officeart/2018/5/layout/IconLeafLabelList"/>
    <dgm:cxn modelId="{9A424CBC-1F21-4309-8B6F-D7465EF65E0F}" type="presParOf" srcId="{0318A6C1-E8CD-4963-B866-26E313E5C9A7}" destId="{79651282-3E7D-492E-8556-C21F526B6A1A}" srcOrd="7" destOrd="0" presId="urn:microsoft.com/office/officeart/2018/5/layout/IconLeafLabelList"/>
    <dgm:cxn modelId="{B40410F5-D901-42C2-99BE-E997ACC84080}" type="presParOf" srcId="{0318A6C1-E8CD-4963-B866-26E313E5C9A7}" destId="{CF0D9E0B-F126-4BC9-951F-30C6737A6B4F}" srcOrd="8" destOrd="0" presId="urn:microsoft.com/office/officeart/2018/5/layout/IconLeafLabelList"/>
    <dgm:cxn modelId="{F5354F48-8C9A-44C1-B5C5-87036A08E208}" type="presParOf" srcId="{CF0D9E0B-F126-4BC9-951F-30C6737A6B4F}" destId="{EFCC8412-926A-44B6-9EA4-09AA557E4304}" srcOrd="0" destOrd="0" presId="urn:microsoft.com/office/officeart/2018/5/layout/IconLeafLabelList"/>
    <dgm:cxn modelId="{78E6FE47-6CFB-46E0-8340-00AE7E31E532}" type="presParOf" srcId="{CF0D9E0B-F126-4BC9-951F-30C6737A6B4F}" destId="{E774EE07-15F6-4E57-AF2C-197E82D2D4CB}" srcOrd="1" destOrd="0" presId="urn:microsoft.com/office/officeart/2018/5/layout/IconLeafLabelList"/>
    <dgm:cxn modelId="{C2E59357-8678-4AC6-9AE6-6172A22C4D0D}" type="presParOf" srcId="{CF0D9E0B-F126-4BC9-951F-30C6737A6B4F}" destId="{2FCDE858-53ED-4DD8-B6E6-505C23EB23E9}" srcOrd="2" destOrd="0" presId="urn:microsoft.com/office/officeart/2018/5/layout/IconLeafLabelList"/>
    <dgm:cxn modelId="{F4A45371-D43B-4159-B5E2-1CB7C9EF07B9}" type="presParOf" srcId="{CF0D9E0B-F126-4BC9-951F-30C6737A6B4F}" destId="{0F1C7BC8-F13E-4D5C-BC3C-C0809940C91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C6300D-B7E8-4150-BA09-E03D32B64815}">
      <dsp:nvSpPr>
        <dsp:cNvPr id="0" name=""/>
        <dsp:cNvSpPr/>
      </dsp:nvSpPr>
      <dsp:spPr>
        <a:xfrm>
          <a:off x="686307" y="671661"/>
          <a:ext cx="1990125" cy="1990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4AEE97-C446-4A1F-BCDA-F3245D32C3CB}">
      <dsp:nvSpPr>
        <dsp:cNvPr id="0" name=""/>
        <dsp:cNvSpPr/>
      </dsp:nvSpPr>
      <dsp:spPr>
        <a:xfrm>
          <a:off x="1110432" y="1095786"/>
          <a:ext cx="1141875" cy="1141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AAD80-22C4-490B-9B72-1B9EFCD45FBD}">
      <dsp:nvSpPr>
        <dsp:cNvPr id="0" name=""/>
        <dsp:cNvSpPr/>
      </dsp:nvSpPr>
      <dsp:spPr>
        <a:xfrm>
          <a:off x="50119" y="3281662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kern="1200" dirty="0">
              <a:latin typeface="Franklin Gothic Demi"/>
            </a:rPr>
            <a:t>Organizations handle large amounts of security, privacy, risk, and compliance information, making GRC audits difficult and time-consuming to manage manually.</a:t>
          </a:r>
          <a:endParaRPr lang="en-US" sz="1200" kern="1200" dirty="0">
            <a:latin typeface="Franklin Gothic Demi"/>
          </a:endParaRPr>
        </a:p>
      </dsp:txBody>
      <dsp:txXfrm>
        <a:off x="50119" y="3281662"/>
        <a:ext cx="3262500" cy="720000"/>
      </dsp:txXfrm>
    </dsp:sp>
    <dsp:sp modelId="{74CC2AAE-DA33-4A46-BAEA-BA3E1B49D173}">
      <dsp:nvSpPr>
        <dsp:cNvPr id="0" name=""/>
        <dsp:cNvSpPr/>
      </dsp:nvSpPr>
      <dsp:spPr>
        <a:xfrm>
          <a:off x="4519745" y="671661"/>
          <a:ext cx="1990125" cy="1990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9C33A4-75C1-46B7-B939-DB5F6FFFDD18}">
      <dsp:nvSpPr>
        <dsp:cNvPr id="0" name=""/>
        <dsp:cNvSpPr/>
      </dsp:nvSpPr>
      <dsp:spPr>
        <a:xfrm>
          <a:off x="4943870" y="1095786"/>
          <a:ext cx="1141875" cy="1141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E952B3-0390-4207-8A89-8B68CFC615E4}">
      <dsp:nvSpPr>
        <dsp:cNvPr id="0" name=""/>
        <dsp:cNvSpPr/>
      </dsp:nvSpPr>
      <dsp:spPr>
        <a:xfrm>
          <a:off x="3883557" y="3281662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kern="1200" dirty="0">
              <a:latin typeface="Franklin Gothic Demi"/>
            </a:rPr>
            <a:t>It can also be challenging to identify vulnerabilities and understand which regulatory requirements or security controls are affected.</a:t>
          </a:r>
          <a:endParaRPr lang="en-US" sz="1200" kern="1200" dirty="0">
            <a:latin typeface="Franklin Gothic Demi"/>
          </a:endParaRPr>
        </a:p>
      </dsp:txBody>
      <dsp:txXfrm>
        <a:off x="3883557" y="3281662"/>
        <a:ext cx="3262500" cy="720000"/>
      </dsp:txXfrm>
    </dsp:sp>
    <dsp:sp modelId="{05B3982A-20DF-4D5D-921B-4D35F155A7D9}">
      <dsp:nvSpPr>
        <dsp:cNvPr id="0" name=""/>
        <dsp:cNvSpPr/>
      </dsp:nvSpPr>
      <dsp:spPr>
        <a:xfrm>
          <a:off x="8353182" y="671661"/>
          <a:ext cx="1990125" cy="1990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F04B00-D6B1-459E-A041-2871F8829F53}">
      <dsp:nvSpPr>
        <dsp:cNvPr id="0" name=""/>
        <dsp:cNvSpPr/>
      </dsp:nvSpPr>
      <dsp:spPr>
        <a:xfrm>
          <a:off x="8777307" y="1095786"/>
          <a:ext cx="1141875" cy="1141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C54C26-9072-4D6F-A7FD-2AFA0AD9BAA5}">
      <dsp:nvSpPr>
        <dsp:cNvPr id="0" name=""/>
        <dsp:cNvSpPr/>
      </dsp:nvSpPr>
      <dsp:spPr>
        <a:xfrm>
          <a:off x="7716995" y="3281662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kern="1200" dirty="0">
              <a:latin typeface="Franklin Gothic Demi"/>
            </a:rPr>
            <a:t>A simpler and more automated approach is needed to assess risks and present compliance issues clearly.</a:t>
          </a:r>
          <a:endParaRPr lang="en-US" sz="1200" kern="1200" dirty="0">
            <a:latin typeface="Franklin Gothic Demi"/>
          </a:endParaRPr>
        </a:p>
      </dsp:txBody>
      <dsp:txXfrm>
        <a:off x="7716995" y="3281662"/>
        <a:ext cx="3262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28A52B-DBFD-4C7D-8DD7-8DEFB7651031}">
      <dsp:nvSpPr>
        <dsp:cNvPr id="0" name=""/>
        <dsp:cNvSpPr/>
      </dsp:nvSpPr>
      <dsp:spPr>
        <a:xfrm>
          <a:off x="686307" y="671661"/>
          <a:ext cx="1990125" cy="1990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328DFC-B5FA-4A21-B2D2-C9A8621391ED}">
      <dsp:nvSpPr>
        <dsp:cNvPr id="0" name=""/>
        <dsp:cNvSpPr/>
      </dsp:nvSpPr>
      <dsp:spPr>
        <a:xfrm>
          <a:off x="1110432" y="1095786"/>
          <a:ext cx="1141875" cy="1141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5ECC59-65E1-462F-823E-3F7311920D1F}">
      <dsp:nvSpPr>
        <dsp:cNvPr id="0" name=""/>
        <dsp:cNvSpPr/>
      </dsp:nvSpPr>
      <dsp:spPr>
        <a:xfrm>
          <a:off x="50119" y="3281662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b="0" kern="1200" dirty="0">
              <a:latin typeface="Franklin Gothic Demi"/>
            </a:rPr>
            <a:t>AI-GRC Metrix shows how Generative AI can simplify GRC auditing by analyzing company information and identifying security, privacy, and compliance risks.</a:t>
          </a:r>
          <a:endParaRPr lang="en-US" sz="1200" b="0" kern="1200" dirty="0">
            <a:latin typeface="Franklin Gothic Demi"/>
          </a:endParaRPr>
        </a:p>
      </dsp:txBody>
      <dsp:txXfrm>
        <a:off x="50119" y="3281662"/>
        <a:ext cx="3262500" cy="720000"/>
      </dsp:txXfrm>
    </dsp:sp>
    <dsp:sp modelId="{1421549F-A38F-4A67-883C-31178A32BA7D}">
      <dsp:nvSpPr>
        <dsp:cNvPr id="0" name=""/>
        <dsp:cNvSpPr/>
      </dsp:nvSpPr>
      <dsp:spPr>
        <a:xfrm>
          <a:off x="4519745" y="671661"/>
          <a:ext cx="1990125" cy="1990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850869-9600-4426-A19F-64393E330C4F}">
      <dsp:nvSpPr>
        <dsp:cNvPr id="0" name=""/>
        <dsp:cNvSpPr/>
      </dsp:nvSpPr>
      <dsp:spPr>
        <a:xfrm>
          <a:off x="4943870" y="1095786"/>
          <a:ext cx="1141875" cy="1141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A3E3EC-DC26-4DEB-BFC3-75D668E62022}">
      <dsp:nvSpPr>
        <dsp:cNvPr id="0" name=""/>
        <dsp:cNvSpPr/>
      </dsp:nvSpPr>
      <dsp:spPr>
        <a:xfrm>
          <a:off x="3883557" y="3281662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b="0" kern="1200" dirty="0">
              <a:latin typeface="Franklin Gothic Demi"/>
            </a:rPr>
            <a:t>The system brings risk assessment and regulatory mapping into one place and presents the findings in a simple, understandable format.</a:t>
          </a:r>
          <a:endParaRPr lang="en-US" sz="1200" b="0" kern="1200" dirty="0">
            <a:latin typeface="Franklin Gothic Demi"/>
          </a:endParaRPr>
        </a:p>
      </dsp:txBody>
      <dsp:txXfrm>
        <a:off x="3883557" y="3281662"/>
        <a:ext cx="3262500" cy="720000"/>
      </dsp:txXfrm>
    </dsp:sp>
    <dsp:sp modelId="{A8D1FB02-87D6-4E14-B6C6-09970A1FCD89}">
      <dsp:nvSpPr>
        <dsp:cNvPr id="0" name=""/>
        <dsp:cNvSpPr/>
      </dsp:nvSpPr>
      <dsp:spPr>
        <a:xfrm>
          <a:off x="8353182" y="671661"/>
          <a:ext cx="1990125" cy="1990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00C802-5440-473A-9780-F67F85A60234}">
      <dsp:nvSpPr>
        <dsp:cNvPr id="0" name=""/>
        <dsp:cNvSpPr/>
      </dsp:nvSpPr>
      <dsp:spPr>
        <a:xfrm>
          <a:off x="8777307" y="1095786"/>
          <a:ext cx="1141875" cy="1141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A8D7A-5CD2-45EC-85B0-31FAF4ECD892}">
      <dsp:nvSpPr>
        <dsp:cNvPr id="0" name=""/>
        <dsp:cNvSpPr/>
      </dsp:nvSpPr>
      <dsp:spPr>
        <a:xfrm>
          <a:off x="7716995" y="3281662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b="0" kern="1200" dirty="0">
              <a:latin typeface="Franklin Gothic Demi"/>
            </a:rPr>
            <a:t>It can help organizations identify important compliance gaps faster and focus on the areas that need attention.</a:t>
          </a:r>
          <a:endParaRPr lang="en-US" sz="1200" b="0" kern="1200" dirty="0">
            <a:latin typeface="Franklin Gothic Demi"/>
          </a:endParaRPr>
        </a:p>
      </dsp:txBody>
      <dsp:txXfrm>
        <a:off x="7716995" y="3281662"/>
        <a:ext cx="32625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34CB3-4305-48C6-BF9F-428BACF4AD54}">
      <dsp:nvSpPr>
        <dsp:cNvPr id="0" name=""/>
        <dsp:cNvSpPr/>
      </dsp:nvSpPr>
      <dsp:spPr>
        <a:xfrm>
          <a:off x="735807" y="83480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B1549A-7C06-4DBC-BD94-F9138EF3DF71}">
      <dsp:nvSpPr>
        <dsp:cNvPr id="0" name=""/>
        <dsp:cNvSpPr/>
      </dsp:nvSpPr>
      <dsp:spPr>
        <a:xfrm>
          <a:off x="969807" y="106880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3BD6B5-4792-45BD-A2E1-A860A74FD039}">
      <dsp:nvSpPr>
        <dsp:cNvPr id="0" name=""/>
        <dsp:cNvSpPr/>
      </dsp:nvSpPr>
      <dsp:spPr>
        <a:xfrm>
          <a:off x="384807" y="2274808"/>
          <a:ext cx="1800000" cy="1563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Add support for more GRC frameworks and regulations.</a:t>
          </a:r>
        </a:p>
      </dsp:txBody>
      <dsp:txXfrm>
        <a:off x="384807" y="2274808"/>
        <a:ext cx="1800000" cy="1563706"/>
      </dsp:txXfrm>
    </dsp:sp>
    <dsp:sp modelId="{61F78436-49E5-4026-BA90-548C6873EC6A}">
      <dsp:nvSpPr>
        <dsp:cNvPr id="0" name=""/>
        <dsp:cNvSpPr/>
      </dsp:nvSpPr>
      <dsp:spPr>
        <a:xfrm>
          <a:off x="2850807" y="83480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3A57DA-05A6-4B7C-A1C0-78A2854B721D}">
      <dsp:nvSpPr>
        <dsp:cNvPr id="0" name=""/>
        <dsp:cNvSpPr/>
      </dsp:nvSpPr>
      <dsp:spPr>
        <a:xfrm>
          <a:off x="3084807" y="106880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339A42-581F-4935-B369-4FB0E415E218}">
      <dsp:nvSpPr>
        <dsp:cNvPr id="0" name=""/>
        <dsp:cNvSpPr/>
      </dsp:nvSpPr>
      <dsp:spPr>
        <a:xfrm>
          <a:off x="2499807" y="2274808"/>
          <a:ext cx="1800000" cy="1563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Improve analysis of uploaded documents and policies.</a:t>
          </a:r>
        </a:p>
      </dsp:txBody>
      <dsp:txXfrm>
        <a:off x="2499807" y="2274808"/>
        <a:ext cx="1800000" cy="1563706"/>
      </dsp:txXfrm>
    </dsp:sp>
    <dsp:sp modelId="{78D7315F-14BB-4201-908F-4CBAC8788B0F}">
      <dsp:nvSpPr>
        <dsp:cNvPr id="0" name=""/>
        <dsp:cNvSpPr/>
      </dsp:nvSpPr>
      <dsp:spPr>
        <a:xfrm>
          <a:off x="4965807" y="83480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DD6965-6DE9-4EAE-A8A4-AD824461C368}">
      <dsp:nvSpPr>
        <dsp:cNvPr id="0" name=""/>
        <dsp:cNvSpPr/>
      </dsp:nvSpPr>
      <dsp:spPr>
        <a:xfrm>
          <a:off x="5199807" y="106880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6E00EB-838A-4EAB-94B8-FEB29B83F601}">
      <dsp:nvSpPr>
        <dsp:cNvPr id="0" name=""/>
        <dsp:cNvSpPr/>
      </dsp:nvSpPr>
      <dsp:spPr>
        <a:xfrm>
          <a:off x="4614807" y="2274808"/>
          <a:ext cx="1800000" cy="1563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Add more detailed compliance and risk dashboards.</a:t>
          </a:r>
        </a:p>
      </dsp:txBody>
      <dsp:txXfrm>
        <a:off x="4614807" y="2274808"/>
        <a:ext cx="1800000" cy="1563706"/>
      </dsp:txXfrm>
    </dsp:sp>
    <dsp:sp modelId="{4E2C04A7-10DC-4B82-B059-A16B8D64DE91}">
      <dsp:nvSpPr>
        <dsp:cNvPr id="0" name=""/>
        <dsp:cNvSpPr/>
      </dsp:nvSpPr>
      <dsp:spPr>
        <a:xfrm>
          <a:off x="7080807" y="83480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1AFBA6-8C16-42BE-B669-32210FA2D8AE}">
      <dsp:nvSpPr>
        <dsp:cNvPr id="0" name=""/>
        <dsp:cNvSpPr/>
      </dsp:nvSpPr>
      <dsp:spPr>
        <a:xfrm>
          <a:off x="7314807" y="106880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12252F-E156-4338-A791-E7324F09B318}">
      <dsp:nvSpPr>
        <dsp:cNvPr id="0" name=""/>
        <dsp:cNvSpPr/>
      </dsp:nvSpPr>
      <dsp:spPr>
        <a:xfrm>
          <a:off x="6729807" y="2274808"/>
          <a:ext cx="1800000" cy="1563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i="0" kern="1200" dirty="0">
              <a:latin typeface="Franklin Gothic Book"/>
            </a:rPr>
            <a:t>Improve risk</a:t>
          </a:r>
          <a:r>
            <a:rPr lang="en-US" sz="1800" b="0" i="0" kern="1200" dirty="0"/>
            <a:t> recommendations using additional organizational context.</a:t>
          </a:r>
        </a:p>
      </dsp:txBody>
      <dsp:txXfrm>
        <a:off x="6729807" y="2274808"/>
        <a:ext cx="1800000" cy="1563706"/>
      </dsp:txXfrm>
    </dsp:sp>
    <dsp:sp modelId="{EFCC8412-926A-44B6-9EA4-09AA557E4304}">
      <dsp:nvSpPr>
        <dsp:cNvPr id="0" name=""/>
        <dsp:cNvSpPr/>
      </dsp:nvSpPr>
      <dsp:spPr>
        <a:xfrm>
          <a:off x="9195807" y="83480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74EE07-15F6-4E57-AF2C-197E82D2D4CB}">
      <dsp:nvSpPr>
        <dsp:cNvPr id="0" name=""/>
        <dsp:cNvSpPr/>
      </dsp:nvSpPr>
      <dsp:spPr>
        <a:xfrm>
          <a:off x="9429807" y="106880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1C7BC8-F13E-4D5C-BC3C-C0809940C917}">
      <dsp:nvSpPr>
        <dsp:cNvPr id="0" name=""/>
        <dsp:cNvSpPr/>
      </dsp:nvSpPr>
      <dsp:spPr>
        <a:xfrm>
          <a:off x="8844807" y="2274808"/>
          <a:ext cx="1800000" cy="1563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Integrate with existing enterprise GRC and security tools.</a:t>
          </a:r>
          <a:endParaRPr lang="en-US" sz="1800" kern="1200" dirty="0">
            <a:latin typeface="Franklin Gothic Demi" panose="020B0502020104020203"/>
          </a:endParaRPr>
        </a:p>
      </dsp:txBody>
      <dsp:txXfrm>
        <a:off x="8844807" y="2274808"/>
        <a:ext cx="1800000" cy="15637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9/5/2026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secureframe.com/hub/soc-2/compliance-documentation" TargetMode="External"/><Relationship Id="rId3" Type="http://schemas.openxmlformats.org/officeDocument/2006/relationships/hyperlink" Target="https://docs.streamlit.io/" TargetMode="External"/><Relationship Id="rId7" Type="http://schemas.openxmlformats.org/officeDocument/2006/relationships/hyperlink" Target="https://www.dpdpa.com/" TargetMode="External"/><Relationship Id="rId2" Type="http://schemas.openxmlformats.org/officeDocument/2006/relationships/hyperlink" Target="https://ai.google.dev/gemini-api/doc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dpr-info.eu/" TargetMode="External"/><Relationship Id="rId5" Type="http://schemas.openxmlformats.org/officeDocument/2006/relationships/hyperlink" Target="https://csrc.nist.gov/pubs/sp/800/30/r1/final" TargetMode="External"/><Relationship Id="rId10" Type="http://schemas.openxmlformats.org/officeDocument/2006/relationships/hyperlink" Target="https://www.eiopa.europa.eu/digital-operational-resilience-act-dora_en" TargetMode="External"/><Relationship Id="rId4" Type="http://schemas.openxmlformats.org/officeDocument/2006/relationships/hyperlink" Target="https://docs.python.org/3.14/" TargetMode="External"/><Relationship Id="rId9" Type="http://schemas.openxmlformats.org/officeDocument/2006/relationships/hyperlink" Target="https://www.iso.org/obp/ui/#iso:std:iso-iec:27001:ed-3:v1:en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i-grc-metrix-tanya-priya.streamlit.app/" TargetMode="External"/><Relationship Id="rId2" Type="http://schemas.openxmlformats.org/officeDocument/2006/relationships/hyperlink" Target="https://github.com/tanya-priya/ai-grc-metrix.git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/>
                <a:cs typeface="Arial"/>
              </a:rPr>
              <a:t>Ai-grc Metrix</a:t>
            </a:r>
            <a:endParaRPr lang="en-US" b="1" dirty="0" err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3136" y="4049746"/>
            <a:ext cx="6477646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 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–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 Tanya Priya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 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–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 J.D Women's College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 – Mathematics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AICTE ID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–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 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STU6a572960ed77a1784097120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932" y="1715529"/>
            <a:ext cx="11008288" cy="439120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endParaRPr lang="en-US" sz="2000" dirty="0">
              <a:latin typeface="Arial"/>
              <a:cs typeface="Arial"/>
            </a:endParaRPr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US" sz="2000" b="1" dirty="0">
                <a:latin typeface="Arial"/>
                <a:ea typeface="+mn-lt"/>
                <a:cs typeface="Arial"/>
              </a:rPr>
              <a:t>Proposed System/Solution </a:t>
            </a:r>
            <a:endParaRPr lang="en-US" dirty="0">
              <a:latin typeface="Arial"/>
              <a:cs typeface="Arial"/>
            </a:endParaRPr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</a:t>
            </a:r>
            <a:r>
              <a:rPr lang="en-US" sz="2000" dirty="0">
                <a:latin typeface="Arial"/>
                <a:ea typeface="+mn-lt"/>
                <a:cs typeface="+mn-lt"/>
              </a:rPr>
              <a:t>  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>
              <a:buFont typeface="Courier New" panose="05020102010507070707" pitchFamily="18" charset="2"/>
              <a:buChar char="o"/>
            </a:pPr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graphicFrame>
        <p:nvGraphicFramePr>
          <p:cNvPr id="7" name="Content Placeholder 1">
            <a:extLst>
              <a:ext uri="{FF2B5EF4-FFF2-40B4-BE49-F238E27FC236}">
                <a16:creationId xmlns:a16="http://schemas.microsoft.com/office/drawing/2014/main" id="{4D46F0BF-F741-53D6-1522-5A82D255FA2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2403" y="1237632"/>
          <a:ext cx="11029615" cy="4673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just">
              <a:buNone/>
            </a:pPr>
            <a:r>
              <a:rPr lang="en-GB" sz="1800" dirty="0"/>
              <a:t>AI-GRC Metrix is an AI-based GRC auditing system that analyses a company's security and data profile to identify potential risks and compliance gaps.​ The system evaluates the profile against multiple frameworks such as GDPR, DPDP Act, SOC 2, ISO 27001, and DORA.​ It generates an overall compliance score, risk posture, detailed findings, affected clauses or controls, and practical recommendations for addressing the identified issues.​</a:t>
            </a:r>
            <a:endParaRPr lang="en-IN" sz="1800"/>
          </a:p>
          <a:p>
            <a:pPr marL="305435" indent="-305435" algn="just">
              <a:buFont typeface="Courier New" panose="05020102010507070707" pitchFamily="18" charset="2"/>
              <a:buChar char="o"/>
            </a:pPr>
            <a:r>
              <a:rPr lang="en-GB" b="1" dirty="0"/>
              <a:t>Data Collection / Input - </a:t>
            </a:r>
            <a:r>
              <a:rPr lang="en-GB" dirty="0"/>
              <a:t>The user provides the company's security, privacy, infrastructure, and third-party risk information through the audit configuration.​ </a:t>
            </a:r>
            <a:endParaRPr lang="en-IN" sz="1200" dirty="0"/>
          </a:p>
          <a:p>
            <a:pPr marL="305435" indent="-305435" algn="just">
              <a:buFont typeface="Courier New" panose="05020102010507070707" pitchFamily="18" charset="2"/>
              <a:buChar char="o"/>
            </a:pPr>
            <a:r>
              <a:rPr lang="en-GB" b="1" dirty="0"/>
              <a:t>Data Processing -​</a:t>
            </a:r>
            <a:r>
              <a:rPr lang="en-GB" dirty="0"/>
              <a:t> The system analyses the company profile and maps the identified issues to relevant GRC frameworks and controls.​ ​</a:t>
            </a:r>
            <a:endParaRPr lang="en-IN" sz="1200" dirty="0"/>
          </a:p>
          <a:p>
            <a:pPr marL="305435" indent="-305435" algn="just">
              <a:buFont typeface="Courier New" panose="05020102010507070707" pitchFamily="18" charset="2"/>
              <a:buChar char="o"/>
            </a:pPr>
            <a:r>
              <a:rPr lang="en-GB" b="1" dirty="0"/>
              <a:t>Risk Assessment -</a:t>
            </a:r>
            <a:r>
              <a:rPr lang="en-GB" dirty="0"/>
              <a:t> Each finding is assessed using likelihood and impact to calculate a risk score.​ ​</a:t>
            </a:r>
            <a:endParaRPr lang="en-IN" sz="1200" dirty="0"/>
          </a:p>
          <a:p>
            <a:pPr marL="305435" indent="-305435" algn="just">
              <a:buFont typeface="Courier New" panose="05020102010507070707" pitchFamily="18" charset="2"/>
              <a:buChar char="o"/>
            </a:pPr>
            <a:r>
              <a:rPr lang="en-GB" b="1" dirty="0"/>
              <a:t>Regulatory Mapping -</a:t>
            </a:r>
            <a:r>
              <a:rPr lang="en-GB" dirty="0"/>
              <a:t> Identified issues are mapped to relevant clauses or controls under frameworks such as GDPR, DPDP Act, SOC 2, ISO 27001, and DORA.​ </a:t>
            </a:r>
            <a:endParaRPr lang="en-IN" sz="1200"/>
          </a:p>
          <a:p>
            <a:pPr marL="305435" indent="-305435" algn="just">
              <a:buFont typeface="Courier New" panose="05020102010507070707" pitchFamily="18" charset="2"/>
              <a:buChar char="o"/>
            </a:pPr>
            <a:r>
              <a:rPr lang="en-GB" dirty="0"/>
              <a:t>​</a:t>
            </a:r>
            <a:r>
              <a:rPr lang="en-GB" b="1" dirty="0"/>
              <a:t>Output -</a:t>
            </a:r>
            <a:r>
              <a:rPr lang="en-GB" dirty="0"/>
              <a:t> The system presents a compliance score, overall risk posture, findings by severity, and recommendations for improvement.​</a:t>
            </a: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4872795" cy="35680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400" b="1" dirty="0"/>
              <a:t>System Requirements</a:t>
            </a:r>
            <a:endParaRPr lang="en-US" sz="2400"/>
          </a:p>
          <a:p>
            <a:pPr marL="305435" indent="-305435" algn="just">
              <a:buFont typeface="Courier New" panose="05020102010507070707" pitchFamily="18" charset="2"/>
              <a:buChar char="o"/>
            </a:pPr>
            <a:r>
              <a:rPr lang="en-GB" sz="1800" dirty="0"/>
              <a:t>Python</a:t>
            </a:r>
            <a:endParaRPr lang="en-US" sz="1800"/>
          </a:p>
          <a:p>
            <a:pPr marL="305435" indent="-305435" algn="just">
              <a:buFont typeface="Courier New" panose="05020102010507070707" pitchFamily="18" charset="2"/>
              <a:buChar char="o"/>
            </a:pPr>
            <a:r>
              <a:rPr lang="en-GB" sz="1800" dirty="0"/>
              <a:t>Streamlit</a:t>
            </a:r>
            <a:endParaRPr lang="en-US" sz="1800"/>
          </a:p>
          <a:p>
            <a:pPr marL="305435" indent="-305435" algn="just">
              <a:buFont typeface="Courier New" panose="05020102010507070707" pitchFamily="18" charset="2"/>
              <a:buChar char="o"/>
            </a:pPr>
            <a:r>
              <a:rPr lang="en-GB" dirty="0"/>
              <a:t>Google </a:t>
            </a:r>
            <a:r>
              <a:rPr lang="en-GB" sz="1800" dirty="0"/>
              <a:t>Gemini</a:t>
            </a:r>
            <a:r>
              <a:rPr lang="en-GB" dirty="0"/>
              <a:t> API</a:t>
            </a:r>
            <a:endParaRPr lang="en-US"/>
          </a:p>
          <a:p>
            <a:pPr marL="305435" indent="-305435" algn="just">
              <a:buFont typeface="Courier New" panose="05020102010507070707" pitchFamily="18" charset="2"/>
              <a:buChar char="o"/>
            </a:pPr>
            <a:r>
              <a:rPr lang="en-GB" sz="1800" dirty="0"/>
              <a:t>Internet</a:t>
            </a:r>
            <a:r>
              <a:rPr lang="en-GB" dirty="0"/>
              <a:t> connection</a:t>
            </a:r>
            <a:endParaRPr lang="en-US"/>
          </a:p>
          <a:p>
            <a:pPr marL="305435" indent="-305435" algn="just">
              <a:buFont typeface="Courier New" panose="05020102010507070707" pitchFamily="18" charset="2"/>
              <a:buChar char="o"/>
            </a:pPr>
            <a:r>
              <a:rPr lang="en-GB" dirty="0"/>
              <a:t>Web </a:t>
            </a:r>
            <a:r>
              <a:rPr lang="en-GB" sz="1800" dirty="0"/>
              <a:t>browsers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52B5E-16DB-85F9-2DBD-EE477FCBF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5279" y="1391479"/>
            <a:ext cx="5645528" cy="3568050"/>
          </a:xfrm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GB" sz="2400" b="1" i="0" u="none" strike="noStrike" baseline="0" dirty="0">
                <a:solidFill>
                  <a:srgbClr val="404040"/>
                </a:solidFill>
                <a:latin typeface="Franklin Gothic Book"/>
              </a:rPr>
              <a:t>Libraries</a:t>
            </a:r>
            <a:r>
              <a:rPr lang="en-GB" sz="1600" b="1" i="0" u="none" strike="noStrike" baseline="0" dirty="0">
                <a:solidFill>
                  <a:srgbClr val="404040"/>
                </a:solidFill>
                <a:latin typeface="Franklin Gothic Book"/>
              </a:rPr>
              <a:t> </a:t>
            </a:r>
            <a:r>
              <a:rPr lang="en-GB" sz="2400" b="1" i="0" u="none" strike="noStrike" baseline="0" dirty="0">
                <a:solidFill>
                  <a:srgbClr val="404040"/>
                </a:solidFill>
                <a:latin typeface="Franklin Gothic Book"/>
              </a:rPr>
              <a:t>Required</a:t>
            </a:r>
            <a:r>
              <a:rPr lang="en-US" sz="2400" b="1" i="0" dirty="0">
                <a:latin typeface="Franklin Gothic Book"/>
              </a:rPr>
              <a:t>​</a:t>
            </a:r>
            <a:endParaRPr lang="en-US" sz="2400" b="1"/>
          </a:p>
          <a:p>
            <a:pPr marL="305435" indent="-305435" algn="l" rtl="0">
              <a:buFont typeface="Courier New" panose="05020102010507070707" pitchFamily="18" charset="2"/>
              <a:buChar char="o"/>
            </a:pPr>
            <a:r>
              <a:rPr lang="en-GB" sz="1800" b="0" i="0" u="none" strike="noStrike" baseline="0" dirty="0">
                <a:solidFill>
                  <a:srgbClr val="404040"/>
                </a:solidFill>
                <a:latin typeface="Franklin Gothic Book"/>
              </a:rPr>
              <a:t>Streamlit</a:t>
            </a:r>
            <a:r>
              <a:rPr lang="en-US" sz="1800" b="0" i="0" dirty="0">
                <a:latin typeface="Franklin Gothic Book"/>
              </a:rPr>
              <a:t>​</a:t>
            </a:r>
          </a:p>
          <a:p>
            <a:pPr marL="305435" indent="-305435" algn="l" rtl="0">
              <a:buFont typeface="Courier New" panose="05020102010507070707" pitchFamily="18" charset="2"/>
              <a:buChar char="o"/>
            </a:pPr>
            <a:r>
              <a:rPr lang="en-GB" sz="1800" b="0" i="0" u="none" strike="noStrike" baseline="0" dirty="0">
                <a:solidFill>
                  <a:srgbClr val="404040"/>
                </a:solidFill>
                <a:latin typeface="Franklin Gothic Book"/>
              </a:rPr>
              <a:t>Google</a:t>
            </a:r>
            <a:r>
              <a:rPr lang="en-GB" sz="1600" b="0" i="0" u="none" strike="noStrike" baseline="0" dirty="0">
                <a:solidFill>
                  <a:srgbClr val="404040"/>
                </a:solidFill>
                <a:latin typeface="Franklin Gothic Book"/>
              </a:rPr>
              <a:t> Generative AI / Gemini</a:t>
            </a:r>
            <a:r>
              <a:rPr lang="en-US" sz="1600" b="0" i="0" dirty="0">
                <a:latin typeface="Franklin Gothic Book"/>
              </a:rPr>
              <a:t>​</a:t>
            </a:r>
          </a:p>
          <a:p>
            <a:pPr marL="305435" indent="-305435" algn="l" rtl="0">
              <a:buFont typeface="Courier New" panose="05020102010507070707" pitchFamily="18" charset="2"/>
              <a:buChar char="o"/>
            </a:pPr>
            <a:r>
              <a:rPr lang="en-GB" sz="1800" b="0" i="0" u="none" strike="noStrike" baseline="0" dirty="0">
                <a:solidFill>
                  <a:srgbClr val="404040"/>
                </a:solidFill>
                <a:latin typeface="Franklin Gothic Book"/>
              </a:rPr>
              <a:t>Python</a:t>
            </a:r>
            <a:r>
              <a:rPr lang="en-GB" sz="1600" b="0" i="0" u="none" strike="noStrike" baseline="0" dirty="0">
                <a:solidFill>
                  <a:srgbClr val="404040"/>
                </a:solidFill>
                <a:latin typeface="Franklin Gothic Book"/>
              </a:rPr>
              <a:t> standard libraries</a:t>
            </a:r>
            <a:r>
              <a:rPr lang="en-US" sz="1600" b="0" i="0" dirty="0">
                <a:latin typeface="Franklin Gothic Book"/>
              </a:rPr>
              <a:t>​</a:t>
            </a:r>
          </a:p>
          <a:p>
            <a:pPr marL="305435" indent="-305435" algn="l" rtl="0">
              <a:buFont typeface="Courier New" panose="05020102010507070707" pitchFamily="18" charset="2"/>
              <a:buChar char="o"/>
            </a:pPr>
            <a:r>
              <a:rPr lang="en-GB" sz="1800" b="0" i="0" u="none" strike="noStrike" baseline="0" dirty="0">
                <a:solidFill>
                  <a:srgbClr val="404040"/>
                </a:solidFill>
                <a:latin typeface="Franklin Gothic Book"/>
              </a:rPr>
              <a:t>Supporting</a:t>
            </a:r>
            <a:r>
              <a:rPr lang="en-GB" sz="1600" b="0" i="0" u="none" strike="noStrike" baseline="0" dirty="0">
                <a:solidFill>
                  <a:srgbClr val="404040"/>
                </a:solidFill>
                <a:latin typeface="Franklin Gothic Book"/>
              </a:rPr>
              <a:t> libraries used for data processing and application logic</a:t>
            </a:r>
            <a:r>
              <a:rPr lang="en-GB" sz="1600" b="0" i="0" dirty="0">
                <a:latin typeface="Franklin Gothic Book"/>
              </a:rPr>
              <a:t>​</a:t>
            </a:r>
            <a:endParaRPr lang="en-GB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CB2981-BB81-1608-C3AA-1548CD18CBB4}"/>
              </a:ext>
            </a:extLst>
          </p:cNvPr>
          <p:cNvSpPr txBox="1"/>
          <p:nvPr/>
        </p:nvSpPr>
        <p:spPr>
          <a:xfrm>
            <a:off x="587808" y="5158042"/>
            <a:ext cx="1103510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GB" sz="2400" b="1" i="0" u="none" strike="noStrike" baseline="0" dirty="0">
                <a:solidFill>
                  <a:srgbClr val="404040"/>
                </a:solidFill>
                <a:latin typeface="Franklin Gothic Book"/>
              </a:rPr>
              <a:t>System Approach</a:t>
            </a:r>
            <a:r>
              <a:rPr lang="en-GB" sz="2400" b="1" i="0" dirty="0">
                <a:latin typeface="Franklin Gothic Book"/>
              </a:rPr>
              <a:t>​</a:t>
            </a:r>
          </a:p>
          <a:p>
            <a:endParaRPr lang="en-GB" sz="1400" dirty="0">
              <a:solidFill>
                <a:srgbClr val="000000"/>
              </a:solidFill>
              <a:latin typeface="Franklin Gothic Book"/>
            </a:endParaRPr>
          </a:p>
          <a:p>
            <a:pPr algn="l" rtl="0"/>
            <a:r>
              <a:rPr lang="en-GB" b="0" i="0" u="none" strike="noStrike" baseline="0" dirty="0">
                <a:solidFill>
                  <a:srgbClr val="404040"/>
                </a:solidFill>
                <a:latin typeface="Franklin Gothic Book"/>
              </a:rPr>
              <a:t>Company Profile → AI Analysis → Risk Assessment → Framework Mapping → Findings &amp; Recommendations</a:t>
            </a:r>
            <a:r>
              <a:rPr lang="en-GB" b="0" i="0" dirty="0">
                <a:latin typeface="Franklin Gothic Book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8DE65-A19E-EA59-EB33-1CB121CE5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278743"/>
          </a:xfrm>
        </p:spPr>
        <p:txBody>
          <a:bodyPr/>
          <a:lstStyle/>
          <a:p>
            <a:r>
              <a:rPr lang="en-IN" sz="2400" b="1" dirty="0">
                <a:ea typeface="+mn-lt"/>
                <a:cs typeface="+mn-lt"/>
              </a:rPr>
              <a:t>Algorithm Selection</a:t>
            </a:r>
            <a:endParaRPr lang="en-US" sz="2400" b="1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4" y="2743602"/>
            <a:ext cx="5194766" cy="3396491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IN" dirty="0">
                <a:ea typeface="+mn-lt"/>
                <a:cs typeface="+mn-lt"/>
              </a:rPr>
              <a:t> </a:t>
            </a:r>
            <a:r>
              <a:rPr lang="en-IN" sz="1600" dirty="0">
                <a:ea typeface="+mn-lt"/>
                <a:cs typeface="+mn-lt"/>
              </a:rPr>
              <a:t>The system uses Generative AI to understand the company profile and identify potential GRC risks and compliance gaps.</a:t>
            </a:r>
          </a:p>
          <a:p>
            <a:pPr marL="0" indent="0" algn="just">
              <a:buNone/>
            </a:pPr>
            <a:r>
              <a:rPr lang="en-IN" sz="1600" dirty="0">
                <a:ea typeface="+mn-lt"/>
                <a:cs typeface="+mn-lt"/>
              </a:rPr>
              <a:t>NIST SP 800-30 risk assessment principles are used to evaluate risk based on likelihood and impact.</a:t>
            </a:r>
          </a:p>
          <a:p>
            <a:pPr marL="285750" indent="-285750" algn="just">
              <a:buFont typeface="Courier New" panose="05020102010507070707" pitchFamily="18" charset="2"/>
              <a:buChar char="o"/>
            </a:pPr>
            <a:r>
              <a:rPr lang="en-IN" sz="1600" b="1" dirty="0">
                <a:ea typeface="+mn-lt"/>
                <a:cs typeface="+mn-lt"/>
              </a:rPr>
              <a:t>Data Input -</a:t>
            </a:r>
            <a:r>
              <a:rPr lang="en-IN" sz="1600" dirty="0">
                <a:ea typeface="+mn-lt"/>
                <a:cs typeface="+mn-lt"/>
              </a:rPr>
              <a:t> The system takes a company's security, privacy, access control, backup, infrastructure, and third-party risk information as input.</a:t>
            </a:r>
          </a:p>
          <a:p>
            <a:pPr marL="285750" indent="-285750" algn="just">
              <a:buFont typeface="Courier New" panose="05020102010507070707" pitchFamily="18" charset="2"/>
              <a:buChar char="o"/>
            </a:pPr>
            <a:r>
              <a:rPr lang="en-IN" sz="1600" b="1" dirty="0">
                <a:ea typeface="+mn-lt"/>
                <a:cs typeface="+mn-lt"/>
              </a:rPr>
              <a:t>Training Process - </a:t>
            </a:r>
            <a:r>
              <a:rPr lang="en-IN" sz="1600" dirty="0">
                <a:ea typeface="+mn-lt"/>
                <a:cs typeface="+mn-lt"/>
              </a:rPr>
              <a:t>The application does not train a model on new data. Instead, the configured company profile is analysed using the selected AI model and predefined GRC framework information.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160E8-F8B7-1D25-1973-C0D0235841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285064"/>
          </a:xfrm>
        </p:spPr>
        <p:txBody>
          <a:bodyPr/>
          <a:lstStyle/>
          <a:p>
            <a:r>
              <a:rPr lang="en-IN" sz="2400" b="1" dirty="0">
                <a:ea typeface="+mn-lt"/>
                <a:cs typeface="+mn-lt"/>
              </a:rPr>
              <a:t>Deployment</a:t>
            </a:r>
            <a:endParaRPr lang="en-US" sz="2400" b="1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FC4DE4-82F1-D497-852D-7269A2E992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6037" y="2743602"/>
            <a:ext cx="5194771" cy="3396491"/>
          </a:xfrm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IN" sz="1500" b="0" i="0" u="none" strike="noStrike" baseline="0" dirty="0">
                <a:solidFill>
                  <a:srgbClr val="404040"/>
                </a:solidFill>
                <a:latin typeface="Franklin Gothic Book"/>
              </a:rPr>
              <a:t>The application is deployed using Streamlit and can be accessed through a web browser.</a:t>
            </a:r>
            <a:r>
              <a:rPr lang="en-US" sz="1500" b="0" i="0" dirty="0">
                <a:latin typeface="Franklin Gothic Book"/>
              </a:rPr>
              <a:t>​</a:t>
            </a:r>
          </a:p>
          <a:p>
            <a:pPr marL="285750" indent="-285750" algn="l" rtl="0">
              <a:buFont typeface="Courier New" panose="05020102010507070707" pitchFamily="18" charset="2"/>
              <a:buChar char="o"/>
            </a:pPr>
            <a:r>
              <a:rPr lang="en-IN" sz="1500" b="1" i="0" u="none" strike="noStrike" baseline="0" dirty="0">
                <a:solidFill>
                  <a:srgbClr val="404040"/>
                </a:solidFill>
                <a:latin typeface="Franklin Gothic Book"/>
              </a:rPr>
              <a:t>Prediction / Analysis Process - </a:t>
            </a:r>
            <a:r>
              <a:rPr lang="en-IN" sz="1500" b="0" i="0" u="none" strike="noStrike" baseline="0" dirty="0">
                <a:solidFill>
                  <a:srgbClr val="404040"/>
                </a:solidFill>
                <a:latin typeface="Franklin Gothic Book"/>
              </a:rPr>
              <a:t>The AI analyzes the input, identifies possible compliance issues, maps them to relevant controls or clauses, and assigns severity based on likelihood and impact.</a:t>
            </a:r>
            <a:r>
              <a:rPr lang="en-US" sz="1500" b="0" i="0" dirty="0">
                <a:latin typeface="Franklin Gothic Book"/>
              </a:rPr>
              <a:t>​</a:t>
            </a:r>
          </a:p>
          <a:p>
            <a:pPr marL="285750" indent="-285750" algn="l" rtl="0">
              <a:buFont typeface="Courier New" panose="05020102010507070707" pitchFamily="18" charset="2"/>
              <a:buChar char="o"/>
            </a:pPr>
            <a:r>
              <a:rPr lang="en-IN" sz="1500" b="1" i="0" u="none" strike="noStrike" baseline="0" dirty="0">
                <a:solidFill>
                  <a:srgbClr val="404040"/>
                </a:solidFill>
                <a:latin typeface="Franklin Gothic Book"/>
              </a:rPr>
              <a:t>Deployment - </a:t>
            </a:r>
            <a:r>
              <a:rPr lang="en-IN" sz="1500" b="0" i="0" u="none" strike="noStrike" baseline="0" dirty="0">
                <a:solidFill>
                  <a:srgbClr val="404040"/>
                </a:solidFill>
                <a:latin typeface="Franklin Gothic Book"/>
              </a:rPr>
              <a:t>The application is deployed on Streamlit and can be accessed through a web browser.</a:t>
            </a:r>
            <a:r>
              <a:rPr lang="en-IN" sz="1500" b="0" i="0" dirty="0">
                <a:latin typeface="Franklin Gothic Book"/>
              </a:rPr>
              <a:t>​</a:t>
            </a:r>
            <a:endParaRPr lang="en-GB" sz="150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05435" indent="-305435">
              <a:buNone/>
            </a:pP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The system successfully generated an automated GRC audit report from the provided company profile.</a:t>
            </a:r>
            <a:endParaRPr lang="en-US" dirty="0"/>
          </a:p>
          <a:p>
            <a:pPr marL="305435" indent="-305435">
              <a:buNone/>
            </a:pPr>
            <a:endParaRPr lang="en-IN"/>
          </a:p>
          <a:p>
            <a:pPr marL="305435" indent="-305435">
              <a:buNone/>
            </a:pP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For the sample audit, the system reported:</a:t>
            </a:r>
            <a:endParaRPr lang="en-IN" dirty="0"/>
          </a:p>
          <a:p>
            <a:pPr marL="305435" indent="-305435">
              <a:buNone/>
            </a:pPr>
            <a:endParaRPr lang="en-IN"/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Overall Compliance Health Score: </a:t>
            </a:r>
            <a:r>
              <a:rPr lang="en-IN" sz="2400" b="1" dirty="0">
                <a:solidFill>
                  <a:srgbClr val="0F0F0F"/>
                </a:solidFill>
                <a:ea typeface="+mn-lt"/>
                <a:cs typeface="+mn-lt"/>
              </a:rPr>
              <a:t>48%</a:t>
            </a:r>
            <a:endParaRPr lang="en-IN" b="1" dirty="0"/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Corporate Risk Posture:</a:t>
            </a:r>
            <a:r>
              <a:rPr lang="en-IN" sz="2400" b="1" dirty="0">
                <a:solidFill>
                  <a:srgbClr val="0F0F0F"/>
                </a:solidFill>
                <a:ea typeface="+mn-lt"/>
                <a:cs typeface="+mn-lt"/>
              </a:rPr>
              <a:t> HIGH</a:t>
            </a:r>
            <a:endParaRPr lang="en-IN" b="1" dirty="0"/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Total Findings: </a:t>
            </a:r>
            <a:r>
              <a:rPr lang="en-IN" sz="2400" b="1" dirty="0">
                <a:solidFill>
                  <a:srgbClr val="0F0F0F"/>
                </a:solidFill>
                <a:ea typeface="+mn-lt"/>
                <a:cs typeface="+mn-lt"/>
              </a:rPr>
              <a:t>10</a:t>
            </a:r>
            <a:endParaRPr lang="en-IN" b="1" dirty="0"/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Critical Findings: </a:t>
            </a:r>
            <a:r>
              <a:rPr lang="en-IN" sz="2400" b="1" dirty="0">
                <a:solidFill>
                  <a:srgbClr val="0F0F0F"/>
                </a:solidFill>
                <a:ea typeface="+mn-lt"/>
                <a:cs typeface="+mn-lt"/>
              </a:rPr>
              <a:t>4</a:t>
            </a:r>
            <a:endParaRPr lang="en-IN" b="1" dirty="0"/>
          </a:p>
          <a:p>
            <a:pPr marL="305435" indent="-305435">
              <a:buNone/>
            </a:pPr>
            <a:endParaRPr lang="en-IN"/>
          </a:p>
          <a:p>
            <a:pPr marL="0" indent="0">
              <a:buNone/>
            </a:pP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The audit also mapped findings across </a:t>
            </a:r>
            <a:r>
              <a:rPr lang="en-IN" sz="2400" b="1" dirty="0">
                <a:solidFill>
                  <a:srgbClr val="0F0F0F"/>
                </a:solidFill>
                <a:ea typeface="+mn-lt"/>
                <a:cs typeface="+mn-lt"/>
              </a:rPr>
              <a:t>GDPR, DPDP Act, SOC 2, ISO 27001,</a:t>
            </a: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 and </a:t>
            </a:r>
            <a:r>
              <a:rPr lang="en-IN" sz="2400" b="1" dirty="0">
                <a:solidFill>
                  <a:srgbClr val="0F0F0F"/>
                </a:solidFill>
                <a:ea typeface="+mn-lt"/>
                <a:cs typeface="+mn-lt"/>
              </a:rPr>
              <a:t>DORA,</a:t>
            </a: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 along with risk scores and recommendations.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The results provide a clear view of the organization's major compliance gaps and areas requiring immediate attention.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313B6-5FAC-036F-3B93-4E2593FF6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5778D0-B356-DF74-AAE9-7072AC81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17B9918-8373-30CF-4C33-E81A19488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8281" y="1238187"/>
            <a:ext cx="7916333" cy="49494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3405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793C9-E814-B97B-FB94-6726AEC9C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52EE7A1-DBB9-5FF5-3C28-D2D1F0B7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81EA995-7C20-7A7E-45FE-F34AC0A73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0477" y="1238187"/>
            <a:ext cx="7848958" cy="49154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2022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D1B31-E63B-C7CD-5821-32C8F1DCF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FD5AD0-5C07-9F4C-BC67-BA5F422B1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850FE1-872F-7846-D495-B8D0D3637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878" y="1237358"/>
            <a:ext cx="7671893" cy="49030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7533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3C3E0-1EC5-0CE7-A586-02ACA9531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A892F8-F95A-4A28-76AC-D7B9F0FBD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826A59-BE10-ED8C-F18F-4DEBB8E26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255" y="1235679"/>
            <a:ext cx="7929023" cy="491379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0229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9B0DC-73D2-A592-505A-FB7BF123E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97B01B-71AD-BD2D-5A93-2D615F78E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6042239-E6C9-A0F2-A8E2-D5739162E1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1171" y="1235953"/>
            <a:ext cx="7773233" cy="49107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5152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CF93C-4C8C-3420-89D8-9BEF7BBFC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3D38CE-6769-1F23-EB20-804D15CD1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D435AB7E-FE5A-F671-B30F-3589B1ABC5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0477" y="1238187"/>
            <a:ext cx="7844336" cy="49084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1876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graphicFrame>
        <p:nvGraphicFramePr>
          <p:cNvPr id="7" name="Content Placeholder 1">
            <a:extLst>
              <a:ext uri="{FF2B5EF4-FFF2-40B4-BE49-F238E27FC236}">
                <a16:creationId xmlns:a16="http://schemas.microsoft.com/office/drawing/2014/main" id="{A4D043A4-F667-C7AB-4605-4201B037DB1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1302026"/>
          <a:ext cx="11029615" cy="4673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A8F9474-8BCF-23F9-C5F0-DEBC6866DB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1302026"/>
          <a:ext cx="11029615" cy="4673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IN" sz="2000" dirty="0">
                <a:solidFill>
                  <a:srgbClr val="0F0F0F"/>
                </a:solidFill>
                <a:ea typeface="+mn-lt"/>
                <a:cs typeface="+mn-lt"/>
              </a:rPr>
              <a:t>Google Gemini API Documentation - </a:t>
            </a:r>
            <a:r>
              <a:rPr lang="en-IN" sz="2000" dirty="0">
                <a:solidFill>
                  <a:srgbClr val="0F0F0F"/>
                </a:solidFill>
                <a:ea typeface="+mn-lt"/>
                <a:cs typeface="+mn-lt"/>
                <a:hlinkClick r:id="rId2"/>
              </a:rPr>
              <a:t>https://ai.google.dev/gemini-api/docs</a:t>
            </a:r>
            <a:endParaRPr lang="en-US" sz="2000" dirty="0"/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IN" sz="2000" dirty="0">
                <a:solidFill>
                  <a:srgbClr val="0F0F0F"/>
                </a:solidFill>
                <a:ea typeface="+mn-lt"/>
                <a:cs typeface="+mn-lt"/>
              </a:rPr>
              <a:t>Streamlit Documentation - </a:t>
            </a:r>
            <a:r>
              <a:rPr lang="en-IN" sz="2000" dirty="0">
                <a:solidFill>
                  <a:srgbClr val="0F0F0F"/>
                </a:solidFill>
                <a:ea typeface="+mn-lt"/>
                <a:cs typeface="+mn-lt"/>
                <a:hlinkClick r:id="rId3"/>
              </a:rPr>
              <a:t>https://docs.streamlit.io/</a:t>
            </a:r>
            <a:endParaRPr lang="en-IN" sz="2000" dirty="0"/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IN" sz="2000" dirty="0">
                <a:solidFill>
                  <a:srgbClr val="0F0F0F"/>
                </a:solidFill>
                <a:ea typeface="+mn-lt"/>
                <a:cs typeface="+mn-lt"/>
              </a:rPr>
              <a:t>Python Documentation - </a:t>
            </a:r>
            <a:r>
              <a:rPr lang="en-IN" sz="2000" dirty="0">
                <a:solidFill>
                  <a:srgbClr val="0F0F0F"/>
                </a:solidFill>
                <a:ea typeface="+mn-lt"/>
                <a:cs typeface="+mn-lt"/>
                <a:hlinkClick r:id="rId4"/>
              </a:rPr>
              <a:t>https://docs.python.org/3.14/</a:t>
            </a:r>
            <a:endParaRPr lang="en-IN" sz="2000"/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IN" sz="2000" dirty="0">
                <a:solidFill>
                  <a:srgbClr val="0F0F0F"/>
                </a:solidFill>
                <a:ea typeface="+mn-lt"/>
                <a:cs typeface="+mn-lt"/>
              </a:rPr>
              <a:t>NIST SP 800-30 – Guide for Conducting Risk Assessments - </a:t>
            </a:r>
            <a:r>
              <a:rPr lang="en-IN" sz="2000" dirty="0">
                <a:solidFill>
                  <a:srgbClr val="0F0F0F"/>
                </a:solidFill>
                <a:ea typeface="+mn-lt"/>
                <a:cs typeface="+mn-lt"/>
                <a:hlinkClick r:id="rId5"/>
              </a:rPr>
              <a:t>https://csrc.nist.gov/pubs/sp/800/30/r1/final</a:t>
            </a:r>
            <a:endParaRPr lang="en-IN" sz="2000"/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IN" sz="2000" dirty="0">
                <a:solidFill>
                  <a:srgbClr val="0F0F0F"/>
                </a:solidFill>
                <a:ea typeface="+mn-lt"/>
                <a:cs typeface="+mn-lt"/>
              </a:rPr>
              <a:t>General Data Protection Regulation (GDPR) - </a:t>
            </a:r>
            <a:r>
              <a:rPr lang="en-IN" sz="2000" dirty="0">
                <a:solidFill>
                  <a:srgbClr val="0F0F0F"/>
                </a:solidFill>
                <a:ea typeface="+mn-lt"/>
                <a:cs typeface="+mn-lt"/>
                <a:hlinkClick r:id="rId6"/>
              </a:rPr>
              <a:t>https://gdpr-info.eu/</a:t>
            </a:r>
            <a:endParaRPr lang="en-IN" sz="2000"/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IN" sz="2000" dirty="0">
                <a:solidFill>
                  <a:srgbClr val="0F0F0F"/>
                </a:solidFill>
                <a:ea typeface="+mn-lt"/>
                <a:cs typeface="+mn-lt"/>
              </a:rPr>
              <a:t>Digital Personal Data Protection Act (DPDP Act) - </a:t>
            </a:r>
            <a:r>
              <a:rPr lang="en-IN" sz="2000" dirty="0">
                <a:solidFill>
                  <a:srgbClr val="0F0F0F"/>
                </a:solidFill>
                <a:ea typeface="+mn-lt"/>
                <a:cs typeface="+mn-lt"/>
                <a:hlinkClick r:id="rId7"/>
              </a:rPr>
              <a:t>https://www.dpdpa.com/</a:t>
            </a:r>
            <a:endParaRPr lang="en-IN" sz="2000" dirty="0"/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IN" sz="2000" dirty="0">
                <a:solidFill>
                  <a:srgbClr val="0F0F0F"/>
                </a:solidFill>
                <a:ea typeface="+mn-lt"/>
                <a:cs typeface="+mn-lt"/>
              </a:rPr>
              <a:t>SOC 2 - </a:t>
            </a:r>
            <a:r>
              <a:rPr lang="en-IN" sz="2000" dirty="0">
                <a:solidFill>
                  <a:srgbClr val="0F0F0F"/>
                </a:solidFill>
                <a:ea typeface="+mn-lt"/>
                <a:cs typeface="+mn-lt"/>
                <a:hlinkClick r:id="rId8"/>
              </a:rPr>
              <a:t>https://secureframe.com/hub/soc-2/compliance-documentation</a:t>
            </a:r>
            <a:endParaRPr lang="en-IN" sz="2000"/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IN" sz="2000" dirty="0">
                <a:solidFill>
                  <a:srgbClr val="0F0F0F"/>
                </a:solidFill>
                <a:ea typeface="+mn-lt"/>
                <a:cs typeface="+mn-lt"/>
              </a:rPr>
              <a:t>ISO/IEC 27001 - </a:t>
            </a:r>
            <a:r>
              <a:rPr lang="en-IN" sz="2000" dirty="0">
                <a:solidFill>
                  <a:srgbClr val="0F0F0F"/>
                </a:solidFill>
                <a:ea typeface="+mn-lt"/>
                <a:cs typeface="+mn-lt"/>
                <a:hlinkClick r:id="rId9"/>
              </a:rPr>
              <a:t>https://www.iso.org/obp/ui/#iso:std:iso-iec:27001:ed-3:v1:en</a:t>
            </a:r>
            <a:endParaRPr lang="en-IN" sz="2000"/>
          </a:p>
          <a:p>
            <a:pPr marL="342900" indent="-342900">
              <a:buFont typeface="Courier New" panose="05020102010507070707" pitchFamily="18" charset="2"/>
              <a:buChar char="o"/>
            </a:pPr>
            <a:r>
              <a:rPr lang="en-IN" sz="2000" dirty="0">
                <a:solidFill>
                  <a:srgbClr val="0F0F0F"/>
                </a:solidFill>
                <a:ea typeface="+mn-lt"/>
                <a:cs typeface="+mn-lt"/>
              </a:rPr>
              <a:t>Digital Operational Resilience Act (DORA) - </a:t>
            </a:r>
            <a:r>
              <a:rPr lang="en-IN" sz="2000" dirty="0">
                <a:solidFill>
                  <a:srgbClr val="0F0F0F"/>
                </a:solidFill>
                <a:ea typeface="+mn-lt"/>
                <a:cs typeface="+mn-lt"/>
                <a:hlinkClick r:id="rId10"/>
              </a:rPr>
              <a:t>https://www.eiopa.europa.eu/digital-operational-resilience-act-dora_en</a:t>
            </a:r>
            <a:endParaRPr lang="en-IN" sz="2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Deployment link / </a:t>
            </a:r>
            <a:r>
              <a:rPr lang="en-IN" err="1"/>
              <a:t>github</a:t>
            </a:r>
            <a:r>
              <a:rPr lang="en-IN"/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>
              <a:buFont typeface="Courier New" panose="05020102010507070707" pitchFamily="18" charset="2"/>
              <a:buChar char="o"/>
            </a:pPr>
            <a:r>
              <a:rPr lang="en-IN" sz="2400" dirty="0"/>
              <a:t>GitHub Repository Link : </a:t>
            </a:r>
            <a:r>
              <a:rPr lang="en-IN" sz="2400" dirty="0">
                <a:hlinkClick r:id="rId2"/>
              </a:rPr>
              <a:t>https://github.com/tanya-priya/ai-grc-metrix.git</a:t>
            </a:r>
            <a:endParaRPr lang="en-US" sz="2400"/>
          </a:p>
          <a:p>
            <a:pPr marL="305435" indent="-305435">
              <a:buFont typeface="Courier New" panose="05020102010507070707" pitchFamily="18" charset="2"/>
              <a:buChar char="o"/>
            </a:pPr>
            <a:r>
              <a:rPr lang="en-IN" sz="2400" dirty="0"/>
              <a:t>Streamlit Live App Link : </a:t>
            </a:r>
            <a:r>
              <a:rPr lang="en-IN" sz="2400" dirty="0">
                <a:hlinkClick r:id="rId3"/>
              </a:rPr>
              <a:t>https://ai-grc-metrix-tanya-priya.streamlit.app</a:t>
            </a:r>
            <a:r>
              <a:rPr lang="en-IN" sz="2000" dirty="0">
                <a:hlinkClick r:id="rId3"/>
              </a:rPr>
              <a:t>/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0</TotalTime>
  <Words>685</Words>
  <Application>Microsoft Office PowerPoint</Application>
  <PresentationFormat>Widescreen</PresentationFormat>
  <Paragraphs>66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DividendVTI</vt:lpstr>
      <vt:lpstr>Ai-grc Metrix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Result</vt:lpstr>
      <vt:lpstr>Result</vt:lpstr>
      <vt:lpstr>Result</vt:lpstr>
      <vt:lpstr>Result</vt:lpstr>
      <vt:lpstr>Result</vt:lpstr>
      <vt:lpstr>Result</vt:lpstr>
      <vt:lpstr>Conclusion</vt:lpstr>
      <vt:lpstr>PowerPoint Presentation</vt:lpstr>
      <vt:lpstr>References</vt:lpstr>
      <vt:lpstr>Deployment link / 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Eluri Narendra</cp:lastModifiedBy>
  <cp:revision>509</cp:revision>
  <dcterms:created xsi:type="dcterms:W3CDTF">2021-05-26T16:50:10Z</dcterms:created>
  <dcterms:modified xsi:type="dcterms:W3CDTF">2026-09-05T13:51:42Z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